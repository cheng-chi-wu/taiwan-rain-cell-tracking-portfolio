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1374100" cy="30251400"/>
  <p:notesSz cx="6858000" cy="9144000"/>
  <p:embeddedFontLst>
    <p:embeddedFont>
      <p:font typeface="Arimo" panose="02020500000000000000" charset="0"/>
      <p:regular r:id="rId3"/>
    </p:embeddedFont>
    <p:embeddedFont>
      <p:font typeface="Arimo Bold" panose="02020500000000000000" charset="0"/>
      <p:regular r:id="rId4"/>
    </p:embeddedFont>
    <p:embeddedFont>
      <p:font typeface="Cambria Math" panose="02040503050406030204" pitchFamily="18" charset="0"/>
      <p:regular r:id="rId5"/>
    </p:embeddedFont>
    <p:embeddedFont>
      <p:font typeface="微軟正黑體" panose="020B0604030504040204" pitchFamily="34" charset="-120"/>
      <p:regular r:id="rId6"/>
      <p:bold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22" autoAdjust="0"/>
  </p:normalViewPr>
  <p:slideViewPr>
    <p:cSldViewPr>
      <p:cViewPr>
        <p:scale>
          <a:sx n="38" d="100"/>
          <a:sy n="38" d="100"/>
        </p:scale>
        <p:origin x="465" y="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ableStyles" Target="tableStyles.xml"/><Relationship Id="rId5" Type="http://schemas.openxmlformats.org/officeDocument/2006/relationships/font" Target="fonts/font3.fntdata"/><Relationship Id="rId10" Type="http://schemas.openxmlformats.org/officeDocument/2006/relationships/theme" Target="theme/theme1.xml"/><Relationship Id="rId4" Type="http://schemas.openxmlformats.org/officeDocument/2006/relationships/font" Target="fonts/font2.fntdata"/><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hyperlink" Target="https://www.sciencedirect.com/journal/atmospheric-research" TargetMode="External"/><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 name="群組 193">
            <a:extLst>
              <a:ext uri="{FF2B5EF4-FFF2-40B4-BE49-F238E27FC236}">
                <a16:creationId xmlns:a16="http://schemas.microsoft.com/office/drawing/2014/main" id="{30ECD744-62C4-ED0F-FCE1-6C674C593891}"/>
              </a:ext>
            </a:extLst>
          </p:cNvPr>
          <p:cNvGrpSpPr/>
          <p:nvPr/>
        </p:nvGrpSpPr>
        <p:grpSpPr>
          <a:xfrm>
            <a:off x="751497" y="14204953"/>
            <a:ext cx="23392173" cy="6005186"/>
            <a:chOff x="752923" y="15016273"/>
            <a:chExt cx="23392173" cy="6005186"/>
          </a:xfrm>
        </p:grpSpPr>
        <p:grpSp>
          <p:nvGrpSpPr>
            <p:cNvPr id="179" name="群組 178">
              <a:extLst>
                <a:ext uri="{FF2B5EF4-FFF2-40B4-BE49-F238E27FC236}">
                  <a16:creationId xmlns:a16="http://schemas.microsoft.com/office/drawing/2014/main" id="{65640D36-266D-2D43-65BD-A8D1565ADA49}"/>
                </a:ext>
              </a:extLst>
            </p:cNvPr>
            <p:cNvGrpSpPr/>
            <p:nvPr/>
          </p:nvGrpSpPr>
          <p:grpSpPr>
            <a:xfrm>
              <a:off x="752923" y="15809378"/>
              <a:ext cx="23392173" cy="5212081"/>
              <a:chOff x="706928" y="16087079"/>
              <a:chExt cx="23392173" cy="5212081"/>
            </a:xfrm>
          </p:grpSpPr>
          <p:sp>
            <p:nvSpPr>
              <p:cNvPr id="167" name="Freeform 59">
                <a:extLst>
                  <a:ext uri="{FF2B5EF4-FFF2-40B4-BE49-F238E27FC236}">
                    <a16:creationId xmlns:a16="http://schemas.microsoft.com/office/drawing/2014/main" id="{6247D2B0-2658-A708-15F6-20F4D122B282}"/>
                  </a:ext>
                </a:extLst>
              </p:cNvPr>
              <p:cNvSpPr/>
              <p:nvPr/>
            </p:nvSpPr>
            <p:spPr>
              <a:xfrm>
                <a:off x="706928" y="16087079"/>
                <a:ext cx="20267122" cy="5212081"/>
              </a:xfrm>
              <a:custGeom>
                <a:avLst/>
                <a:gdLst/>
                <a:ahLst/>
                <a:cxnLst/>
                <a:rect l="l" t="t" r="r" b="b"/>
                <a:pathLst>
                  <a:path w="20246713" h="14138979">
                    <a:moveTo>
                      <a:pt x="0" y="0"/>
                    </a:moveTo>
                    <a:lnTo>
                      <a:pt x="20246713" y="0"/>
                    </a:lnTo>
                    <a:lnTo>
                      <a:pt x="20246713" y="14138979"/>
                    </a:lnTo>
                    <a:lnTo>
                      <a:pt x="0" y="14138979"/>
                    </a:lnTo>
                    <a:lnTo>
                      <a:pt x="0" y="0"/>
                    </a:lnTo>
                    <a:close/>
                  </a:path>
                </a:pathLst>
              </a:custGeom>
              <a:blipFill>
                <a:blip r:embed="rId2"/>
                <a:stretch>
                  <a:fillRect t="-1849" b="-1849"/>
                </a:stretch>
              </a:blipFill>
              <a:ln>
                <a:solidFill>
                  <a:schemeClr val="bg1"/>
                </a:solidFill>
              </a:ln>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pic>
            <p:nvPicPr>
              <p:cNvPr id="169" name="圖片 168" descr="一張含有 文字, 圖表, 寫生, 方案 的圖片">
                <a:extLst>
                  <a:ext uri="{FF2B5EF4-FFF2-40B4-BE49-F238E27FC236}">
                    <a16:creationId xmlns:a16="http://schemas.microsoft.com/office/drawing/2014/main" id="{347AE06F-3499-B673-5A6C-208965C03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4689" y="16519203"/>
                <a:ext cx="6400862" cy="3820804"/>
              </a:xfrm>
              <a:prstGeom prst="rect">
                <a:avLst/>
              </a:prstGeom>
              <a:effectLst>
                <a:softEdge rad="0"/>
              </a:effectLst>
              <a:scene3d>
                <a:camera prst="orthographicFront"/>
                <a:lightRig rig="threePt" dir="t"/>
              </a:scene3d>
              <a:sp3d contourW="44450"/>
            </p:spPr>
          </p:pic>
          <p:sp>
            <p:nvSpPr>
              <p:cNvPr id="173" name="文字方塊 172">
                <a:extLst>
                  <a:ext uri="{FF2B5EF4-FFF2-40B4-BE49-F238E27FC236}">
                    <a16:creationId xmlns:a16="http://schemas.microsoft.com/office/drawing/2014/main" id="{39300B98-8D28-7DA0-13AA-951728A0EDC7}"/>
                  </a:ext>
                </a:extLst>
              </p:cNvPr>
              <p:cNvSpPr txBox="1"/>
              <p:nvPr/>
            </p:nvSpPr>
            <p:spPr>
              <a:xfrm>
                <a:off x="13414689" y="20434527"/>
                <a:ext cx="10684412" cy="646331"/>
              </a:xfrm>
              <a:prstGeom prst="rect">
                <a:avLst/>
              </a:prstGeom>
              <a:noFill/>
            </p:spPr>
            <p:txBody>
              <a:bodyPr wrap="square">
                <a:spAutoFit/>
              </a:bodyPr>
              <a:lstStyle/>
              <a:p>
                <a:r>
                  <a:rPr lang="en-US" altLang="zh-TW" sz="1800" dirty="0">
                    <a:solidFill>
                      <a:srgbClr val="595959"/>
                    </a:solidFill>
                    <a:latin typeface="Arimo" panose="02020500000000000000" charset="0"/>
                    <a:ea typeface="Arimo" panose="02020500000000000000" charset="0"/>
                    <a:cs typeface="Arimo" panose="02020500000000000000" charset="0"/>
                    <a:sym typeface="Arimo Bold"/>
                  </a:rPr>
                  <a:t>Fig.1 </a:t>
                </a:r>
                <a:r>
                  <a:rPr lang="zh-TW" altLang="en-US" sz="1800" dirty="0">
                    <a:solidFill>
                      <a:srgbClr val="595959"/>
                    </a:solidFill>
                    <a:latin typeface="Arimo" panose="02020500000000000000" charset="0"/>
                    <a:ea typeface="Arimo" panose="02020500000000000000" charset="0"/>
                    <a:cs typeface="Arimo" panose="02020500000000000000" charset="0"/>
                    <a:sym typeface="Arimo Bold"/>
                  </a:rPr>
                  <a:t>雨胞辨識流程</a:t>
                </a:r>
                <a:r>
                  <a:rPr lang="en-US" altLang="zh-TW" b="0" i="0" dirty="0">
                    <a:solidFill>
                      <a:srgbClr val="000000"/>
                    </a:solidFill>
                    <a:effectLst/>
                  </a:rPr>
                  <a:t> </a:t>
                </a:r>
              </a:p>
              <a:p>
                <a:r>
                  <a:rPr lang="en-US" altLang="zh-TW" b="0" i="0" dirty="0">
                    <a:solidFill>
                      <a:srgbClr val="0000FF"/>
                    </a:solidFill>
                    <a:effectLst/>
                    <a:hlinkClick r:id="rId4"/>
                  </a:rPr>
                  <a:t>https://www.sciencedirect.com/journal/atmospheric-research</a:t>
                </a:r>
                <a:endParaRPr lang="zh-TW" altLang="en-US" dirty="0">
                  <a:latin typeface="Arimo" panose="02020500000000000000" charset="0"/>
                  <a:cs typeface="Arimo" panose="02020500000000000000" charset="0"/>
                </a:endParaRPr>
              </a:p>
            </p:txBody>
          </p:sp>
          <p:sp>
            <p:nvSpPr>
              <p:cNvPr id="175" name="文字方塊 174">
                <a:extLst>
                  <a:ext uri="{FF2B5EF4-FFF2-40B4-BE49-F238E27FC236}">
                    <a16:creationId xmlns:a16="http://schemas.microsoft.com/office/drawing/2014/main" id="{12202C1E-3AFF-16EA-2037-736AA675B6E6}"/>
                  </a:ext>
                </a:extLst>
              </p:cNvPr>
              <p:cNvSpPr txBox="1"/>
              <p:nvPr/>
            </p:nvSpPr>
            <p:spPr>
              <a:xfrm>
                <a:off x="2046945" y="16486825"/>
                <a:ext cx="11367744" cy="1477328"/>
              </a:xfrm>
              <a:prstGeom prst="rect">
                <a:avLst/>
              </a:prstGeom>
              <a:noFill/>
            </p:spPr>
            <p:txBody>
              <a:bodyPr wrap="square" rtlCol="0">
                <a:spAutoFit/>
              </a:bodyPr>
              <a:lstStyle/>
              <a:p>
                <a:pPr algn="l"/>
                <a:r>
                  <a:rPr lang="zh-TW" altLang="en-US" sz="3000" dirty="0">
                    <a:solidFill>
                      <a:srgbClr val="595959"/>
                    </a:solidFill>
                    <a:latin typeface="Arimo Bold"/>
                    <a:ea typeface="Arimo Bold"/>
                    <a:cs typeface="Arimo Bold"/>
                    <a:sym typeface="Arimo Bold"/>
                  </a:rPr>
                  <a:t>本研究修改英國雨胞辨識模型，調整參數以符合臺灣地區的需求</a:t>
                </a:r>
                <a:endParaRPr lang="en-US" altLang="zh-TW" sz="3000" dirty="0">
                  <a:solidFill>
                    <a:srgbClr val="595959"/>
                  </a:solidFill>
                  <a:latin typeface="Arimo Bold"/>
                  <a:ea typeface="Arimo Bold"/>
                  <a:cs typeface="Arimo Bold"/>
                  <a:sym typeface="Arimo Bold"/>
                </a:endParaRPr>
              </a:p>
              <a:p>
                <a:pPr algn="l"/>
                <a:endParaRPr lang="en-US" altLang="zh-TW" sz="3000" dirty="0">
                  <a:solidFill>
                    <a:srgbClr val="595959"/>
                  </a:solidFill>
                  <a:latin typeface="Arimo Bold"/>
                  <a:ea typeface="Arimo Bold"/>
                  <a:cs typeface="Arimo Bold"/>
                  <a:sym typeface="Arimo Bold"/>
                </a:endParaRPr>
              </a:p>
              <a:p>
                <a:pPr algn="l">
                  <a:lnSpc>
                    <a:spcPts val="3600"/>
                  </a:lnSpc>
                </a:pPr>
                <a:endParaRPr lang="en-US" altLang="zh-TW" sz="3000" dirty="0">
                  <a:solidFill>
                    <a:srgbClr val="595959"/>
                  </a:solidFill>
                  <a:latin typeface="Arimo Bold"/>
                  <a:ea typeface="Arimo Bold"/>
                  <a:cs typeface="Arimo Bold"/>
                  <a:sym typeface="Arimo Bold"/>
                </a:endParaRPr>
              </a:p>
            </p:txBody>
          </p:sp>
        </p:grpSp>
        <p:grpSp>
          <p:nvGrpSpPr>
            <p:cNvPr id="109" name="Group 55">
              <a:extLst>
                <a:ext uri="{FF2B5EF4-FFF2-40B4-BE49-F238E27FC236}">
                  <a16:creationId xmlns:a16="http://schemas.microsoft.com/office/drawing/2014/main" id="{4767DF3C-41B0-2DBB-6835-D11B92137109}"/>
                </a:ext>
              </a:extLst>
            </p:cNvPr>
            <p:cNvGrpSpPr/>
            <p:nvPr/>
          </p:nvGrpSpPr>
          <p:grpSpPr>
            <a:xfrm>
              <a:off x="752923" y="15016273"/>
              <a:ext cx="3615135" cy="1064163"/>
              <a:chOff x="0" y="-19050"/>
              <a:chExt cx="4820179" cy="1418883"/>
            </a:xfrm>
          </p:grpSpPr>
          <p:sp>
            <p:nvSpPr>
              <p:cNvPr id="110" name="Freeform 56">
                <a:extLst>
                  <a:ext uri="{FF2B5EF4-FFF2-40B4-BE49-F238E27FC236}">
                    <a16:creationId xmlns:a16="http://schemas.microsoft.com/office/drawing/2014/main" id="{670FE509-02E9-742A-8FB8-339416BB16EC}"/>
                  </a:ext>
                </a:extLst>
              </p:cNvPr>
              <p:cNvSpPr/>
              <p:nvPr/>
            </p:nvSpPr>
            <p:spPr>
              <a:xfrm>
                <a:off x="188489" y="5021"/>
                <a:ext cx="4631690" cy="1388474"/>
              </a:xfrm>
              <a:custGeom>
                <a:avLst/>
                <a:gdLst/>
                <a:ahLst/>
                <a:cxnLst/>
                <a:rect l="l" t="t" r="r" b="b"/>
                <a:pathLst>
                  <a:path w="4631690" h="1388474">
                    <a:moveTo>
                      <a:pt x="0" y="0"/>
                    </a:moveTo>
                    <a:lnTo>
                      <a:pt x="4212082" y="0"/>
                    </a:lnTo>
                    <a:lnTo>
                      <a:pt x="4631690" y="557462"/>
                    </a:lnTo>
                    <a:lnTo>
                      <a:pt x="4631690" y="1388475"/>
                    </a:lnTo>
                    <a:lnTo>
                      <a:pt x="419608" y="1388475"/>
                    </a:lnTo>
                    <a:lnTo>
                      <a:pt x="0" y="831014"/>
                    </a:lnTo>
                    <a:lnTo>
                      <a:pt x="0" y="0"/>
                    </a:lnTo>
                    <a:close/>
                  </a:path>
                </a:pathLst>
              </a:custGeom>
              <a:solidFill>
                <a:srgbClr val="333F50"/>
              </a:solidFill>
            </p:spPr>
            <p:txBody>
              <a:bodyPr/>
              <a:lstStyle/>
              <a:p>
                <a:endParaRPr lang="zh-TW" altLang="en-US" dirty="0"/>
              </a:p>
            </p:txBody>
          </p:sp>
          <p:sp>
            <p:nvSpPr>
              <p:cNvPr id="111" name="Freeform 57">
                <a:extLst>
                  <a:ext uri="{FF2B5EF4-FFF2-40B4-BE49-F238E27FC236}">
                    <a16:creationId xmlns:a16="http://schemas.microsoft.com/office/drawing/2014/main" id="{16D84C82-6D0E-A432-7FC2-024CA858D0EE}"/>
                  </a:ext>
                </a:extLst>
              </p:cNvPr>
              <p:cNvSpPr/>
              <p:nvPr/>
            </p:nvSpPr>
            <p:spPr>
              <a:xfrm>
                <a:off x="0" y="0"/>
                <a:ext cx="4640072" cy="1399833"/>
              </a:xfrm>
              <a:custGeom>
                <a:avLst/>
                <a:gdLst/>
                <a:ahLst/>
                <a:cxnLst/>
                <a:rect l="l" t="t" r="r" b="b"/>
                <a:pathLst>
                  <a:path w="4640072" h="1399833">
                    <a:moveTo>
                      <a:pt x="4191" y="0"/>
                    </a:moveTo>
                    <a:lnTo>
                      <a:pt x="4216273" y="0"/>
                    </a:lnTo>
                    <a:cubicBezTo>
                      <a:pt x="4217416" y="0"/>
                      <a:pt x="4218432" y="509"/>
                      <a:pt x="4219194" y="1698"/>
                    </a:cubicBezTo>
                    <a:lnTo>
                      <a:pt x="4638802" y="559159"/>
                    </a:lnTo>
                    <a:cubicBezTo>
                      <a:pt x="4639564" y="560178"/>
                      <a:pt x="4640072" y="561706"/>
                      <a:pt x="4640072" y="563235"/>
                    </a:cubicBezTo>
                    <a:lnTo>
                      <a:pt x="4640072" y="1394078"/>
                    </a:lnTo>
                    <a:lnTo>
                      <a:pt x="4635881" y="1394078"/>
                    </a:lnTo>
                    <a:lnTo>
                      <a:pt x="4635881" y="1388474"/>
                    </a:lnTo>
                    <a:lnTo>
                      <a:pt x="4635881" y="1394078"/>
                    </a:lnTo>
                    <a:lnTo>
                      <a:pt x="4635881" y="1399681"/>
                    </a:lnTo>
                    <a:lnTo>
                      <a:pt x="423799" y="1399681"/>
                    </a:lnTo>
                    <a:cubicBezTo>
                      <a:pt x="422656" y="1399681"/>
                      <a:pt x="421640" y="1399172"/>
                      <a:pt x="420878" y="1397983"/>
                    </a:cubicBezTo>
                    <a:lnTo>
                      <a:pt x="1270" y="840692"/>
                    </a:lnTo>
                    <a:cubicBezTo>
                      <a:pt x="508" y="839673"/>
                      <a:pt x="0" y="838145"/>
                      <a:pt x="0" y="836616"/>
                    </a:cubicBezTo>
                    <a:lnTo>
                      <a:pt x="0" y="5603"/>
                    </a:lnTo>
                    <a:cubicBezTo>
                      <a:pt x="0" y="2547"/>
                      <a:pt x="1905" y="0"/>
                      <a:pt x="4191" y="0"/>
                    </a:cubicBezTo>
                    <a:moveTo>
                      <a:pt x="4191" y="11377"/>
                    </a:moveTo>
                    <a:lnTo>
                      <a:pt x="4191" y="5603"/>
                    </a:lnTo>
                    <a:lnTo>
                      <a:pt x="8509" y="5603"/>
                    </a:lnTo>
                    <a:lnTo>
                      <a:pt x="8509" y="836617"/>
                    </a:lnTo>
                    <a:lnTo>
                      <a:pt x="4191" y="836617"/>
                    </a:lnTo>
                    <a:lnTo>
                      <a:pt x="7112" y="832541"/>
                    </a:lnTo>
                    <a:lnTo>
                      <a:pt x="426847" y="1390173"/>
                    </a:lnTo>
                    <a:lnTo>
                      <a:pt x="423926" y="1394248"/>
                    </a:lnTo>
                    <a:lnTo>
                      <a:pt x="423926" y="1388644"/>
                    </a:lnTo>
                    <a:lnTo>
                      <a:pt x="4635881" y="1388644"/>
                    </a:lnTo>
                    <a:cubicBezTo>
                      <a:pt x="4638167" y="1388644"/>
                      <a:pt x="4640072" y="1391191"/>
                      <a:pt x="4640072" y="1394248"/>
                    </a:cubicBezTo>
                    <a:cubicBezTo>
                      <a:pt x="4640072" y="1397304"/>
                      <a:pt x="4638167" y="1399833"/>
                      <a:pt x="4635881" y="1399833"/>
                    </a:cubicBezTo>
                    <a:cubicBezTo>
                      <a:pt x="4633595" y="1399833"/>
                      <a:pt x="4631690" y="1397304"/>
                      <a:pt x="4631690" y="1394248"/>
                    </a:cubicBezTo>
                    <a:lnTo>
                      <a:pt x="4631690" y="563235"/>
                    </a:lnTo>
                    <a:lnTo>
                      <a:pt x="4635881" y="563235"/>
                    </a:lnTo>
                    <a:lnTo>
                      <a:pt x="4632960" y="567310"/>
                    </a:lnTo>
                    <a:lnTo>
                      <a:pt x="4213352" y="9679"/>
                    </a:lnTo>
                    <a:lnTo>
                      <a:pt x="4216273" y="5603"/>
                    </a:lnTo>
                    <a:lnTo>
                      <a:pt x="4216273" y="11377"/>
                    </a:lnTo>
                    <a:lnTo>
                      <a:pt x="4191" y="11377"/>
                    </a:lnTo>
                    <a:close/>
                  </a:path>
                </a:pathLst>
              </a:custGeom>
              <a:solidFill>
                <a:srgbClr val="FFFFFF"/>
              </a:solidFill>
            </p:spPr>
            <p:txBody>
              <a:bodyPr/>
              <a:lstStyle/>
              <a:p>
                <a:endParaRPr lang="zh-TW" altLang="en-US"/>
              </a:p>
            </p:txBody>
          </p:sp>
          <p:sp>
            <p:nvSpPr>
              <p:cNvPr id="112" name="TextBox 58">
                <a:extLst>
                  <a:ext uri="{FF2B5EF4-FFF2-40B4-BE49-F238E27FC236}">
                    <a16:creationId xmlns:a16="http://schemas.microsoft.com/office/drawing/2014/main" id="{B861D6A3-71DE-45A7-9775-D08987F39578}"/>
                  </a:ext>
                </a:extLst>
              </p:cNvPr>
              <p:cNvSpPr txBox="1"/>
              <p:nvPr/>
            </p:nvSpPr>
            <p:spPr>
              <a:xfrm>
                <a:off x="0" y="-19050"/>
                <a:ext cx="4640161" cy="1418828"/>
              </a:xfrm>
              <a:prstGeom prst="rect">
                <a:avLst/>
              </a:prstGeom>
            </p:spPr>
            <p:txBody>
              <a:bodyPr lIns="50800" tIns="50800" rIns="50800" bIns="50800" rtlCol="0" anchor="ctr"/>
              <a:lstStyle/>
              <a:p>
                <a:pPr algn="ctr">
                  <a:lnSpc>
                    <a:spcPts val="5759"/>
                  </a:lnSpc>
                </a:pPr>
                <a:r>
                  <a:rPr lang="en-US" sz="4800" dirty="0" err="1">
                    <a:solidFill>
                      <a:srgbClr val="FFFFFF"/>
                    </a:solidFill>
                    <a:latin typeface="Arimo Bold"/>
                    <a:ea typeface="Arimo Bold"/>
                    <a:cs typeface="Arimo Bold"/>
                    <a:sym typeface="Arimo Bold"/>
                  </a:rPr>
                  <a:t>研究</a:t>
                </a:r>
                <a:r>
                  <a:rPr lang="zh-TW" altLang="en-US" sz="4800" dirty="0">
                    <a:solidFill>
                      <a:srgbClr val="FFFFFF"/>
                    </a:solidFill>
                    <a:latin typeface="Arimo Bold"/>
                    <a:ea typeface="Arimo Bold"/>
                    <a:cs typeface="Arimo Bold"/>
                    <a:sym typeface="Arimo Bold"/>
                  </a:rPr>
                  <a:t>方法</a:t>
                </a:r>
                <a:endParaRPr lang="en-US" sz="4800" dirty="0">
                  <a:solidFill>
                    <a:srgbClr val="FFFFFF"/>
                  </a:solidFill>
                  <a:latin typeface="Arimo Bold"/>
                  <a:ea typeface="Arimo Bold"/>
                  <a:cs typeface="Arimo Bold"/>
                  <a:sym typeface="Arimo Bold"/>
                </a:endParaRPr>
              </a:p>
            </p:txBody>
          </p:sp>
        </p:grpSp>
      </p:grpSp>
      <p:sp>
        <p:nvSpPr>
          <p:cNvPr id="2" name="Freeform 2"/>
          <p:cNvSpPr/>
          <p:nvPr/>
        </p:nvSpPr>
        <p:spPr>
          <a:xfrm>
            <a:off x="706929" y="725525"/>
            <a:ext cx="4464984" cy="13457743"/>
          </a:xfrm>
          <a:custGeom>
            <a:avLst/>
            <a:gdLst/>
            <a:ahLst/>
            <a:cxnLst/>
            <a:rect l="l" t="t" r="r" b="b"/>
            <a:pathLst>
              <a:path w="4464984" h="15054847">
                <a:moveTo>
                  <a:pt x="0" y="0"/>
                </a:moveTo>
                <a:lnTo>
                  <a:pt x="4464984" y="0"/>
                </a:lnTo>
                <a:lnTo>
                  <a:pt x="4464984" y="15054847"/>
                </a:lnTo>
                <a:lnTo>
                  <a:pt x="0" y="15054847"/>
                </a:lnTo>
                <a:lnTo>
                  <a:pt x="0" y="0"/>
                </a:lnTo>
                <a:close/>
              </a:path>
            </a:pathLst>
          </a:custGeom>
          <a:blipFill>
            <a:blip r:embed="rId5"/>
            <a:stretch>
              <a:fillRect l="-17" r="-17" b="-11868"/>
            </a:stretch>
          </a:blipFill>
        </p:spPr>
        <p:txBody>
          <a:bodyPr/>
          <a:lstStyle/>
          <a:p>
            <a:endParaRPr lang="zh-TW" altLang="en-US"/>
          </a:p>
        </p:txBody>
      </p:sp>
      <p:grpSp>
        <p:nvGrpSpPr>
          <p:cNvPr id="191" name="群組 190">
            <a:extLst>
              <a:ext uri="{FF2B5EF4-FFF2-40B4-BE49-F238E27FC236}">
                <a16:creationId xmlns:a16="http://schemas.microsoft.com/office/drawing/2014/main" id="{397E9670-3223-F6FE-51D8-9543D42E207C}"/>
              </a:ext>
            </a:extLst>
          </p:cNvPr>
          <p:cNvGrpSpPr/>
          <p:nvPr/>
        </p:nvGrpSpPr>
        <p:grpSpPr>
          <a:xfrm>
            <a:off x="5580367" y="4683377"/>
            <a:ext cx="15381100" cy="3574210"/>
            <a:chOff x="5534372" y="5029089"/>
            <a:chExt cx="15439678" cy="3574210"/>
          </a:xfrm>
        </p:grpSpPr>
        <p:sp>
          <p:nvSpPr>
            <p:cNvPr id="65" name="Freeform 59">
              <a:extLst>
                <a:ext uri="{FF2B5EF4-FFF2-40B4-BE49-F238E27FC236}">
                  <a16:creationId xmlns:a16="http://schemas.microsoft.com/office/drawing/2014/main" id="{BB7C4399-100F-2A36-786F-6AFFE3C4F5BC}"/>
                </a:ext>
              </a:extLst>
            </p:cNvPr>
            <p:cNvSpPr/>
            <p:nvPr/>
          </p:nvSpPr>
          <p:spPr>
            <a:xfrm>
              <a:off x="5534372" y="5029089"/>
              <a:ext cx="15439678" cy="3574210"/>
            </a:xfrm>
            <a:custGeom>
              <a:avLst/>
              <a:gdLst/>
              <a:ahLst/>
              <a:cxnLst/>
              <a:rect l="l" t="t" r="r" b="b"/>
              <a:pathLst>
                <a:path w="20246713" h="14138979">
                  <a:moveTo>
                    <a:pt x="0" y="0"/>
                  </a:moveTo>
                  <a:lnTo>
                    <a:pt x="20246713" y="0"/>
                  </a:lnTo>
                  <a:lnTo>
                    <a:pt x="20246713" y="14138979"/>
                  </a:lnTo>
                  <a:lnTo>
                    <a:pt x="0" y="14138979"/>
                  </a:lnTo>
                  <a:lnTo>
                    <a:pt x="0" y="0"/>
                  </a:lnTo>
                  <a:close/>
                </a:path>
              </a:pathLst>
            </a:custGeom>
            <a:blipFill>
              <a:blip r:embed="rId2"/>
              <a:stretch>
                <a:fillRect t="-1849" b="-1849"/>
              </a:stretch>
            </a:blipFill>
            <a:ln>
              <a:solidFill>
                <a:schemeClr val="bg1"/>
              </a:solidFill>
            </a:ln>
          </p:spPr>
          <p:txBody>
            <a:bodyPr/>
            <a:lstStyle/>
            <a:p>
              <a:endParaRPr lang="zh-TW" altLang="en-US" dirty="0"/>
            </a:p>
          </p:txBody>
        </p:sp>
        <p:sp>
          <p:nvSpPr>
            <p:cNvPr id="10" name="TextBox 10"/>
            <p:cNvSpPr txBox="1"/>
            <p:nvPr/>
          </p:nvSpPr>
          <p:spPr>
            <a:xfrm>
              <a:off x="6081988" y="5352032"/>
              <a:ext cx="14439289" cy="3223772"/>
            </a:xfrm>
            <a:prstGeom prst="rect">
              <a:avLst/>
            </a:prstGeom>
          </p:spPr>
          <p:txBody>
            <a:bodyPr lIns="50800" tIns="50800" rIns="50800" bIns="50800" rtlCol="0" anchor="ctr"/>
            <a:lstStyle/>
            <a:p>
              <a:pPr algn="l">
                <a:lnSpc>
                  <a:spcPts val="3600"/>
                </a:lnSpc>
              </a:pPr>
              <a:r>
                <a:rPr lang="zh-TW" altLang="en-US" sz="2100" dirty="0">
                  <a:solidFill>
                    <a:srgbClr val="595959"/>
                  </a:solidFill>
                  <a:latin typeface="Arimo Bold"/>
                  <a:ea typeface="Arimo Bold"/>
                  <a:cs typeface="Arimo Bold"/>
                  <a:sym typeface="Arimo Bold"/>
                </a:rPr>
                <a:t>午後雷陣雨（</a:t>
              </a:r>
              <a:r>
                <a:rPr lang="en-US" altLang="zh-TW" sz="2100" dirty="0">
                  <a:solidFill>
                    <a:srgbClr val="595959"/>
                  </a:solidFill>
                  <a:latin typeface="Arimo Bold"/>
                  <a:ea typeface="Arimo Bold"/>
                  <a:cs typeface="Arimo Bold"/>
                  <a:sym typeface="Arimo Bold"/>
                </a:rPr>
                <a:t>thunderstorm</a:t>
              </a:r>
              <a:r>
                <a:rPr lang="zh-TW" altLang="en-US" sz="2100" dirty="0">
                  <a:solidFill>
                    <a:srgbClr val="595959"/>
                  </a:solidFill>
                  <a:latin typeface="Arimo Bold"/>
                  <a:ea typeface="Arimo Bold"/>
                  <a:cs typeface="Arimo Bold"/>
                  <a:sym typeface="Arimo Bold"/>
                </a:rPr>
                <a:t>）是臺灣夏天常見的降雨型態之一，由於其發生區域小、事件短、強度高，預測延時及可以應變之時間非常短，容易造成都市淹水。此外，隨著氣候變遷，午後雷陣雨發生之頻率、強度都有提高之趨勢，因此如何提升午後雷陣雨之預測延時及準確度，對於臺灣治災防洪上極具重要意義。實務上常用氣象雷達觀測午後雷陣雨，然而現有實務觀測與研究仍有許多限制：（</a:t>
              </a:r>
              <a:r>
                <a:rPr lang="en-US" altLang="zh-TW" sz="2100" dirty="0">
                  <a:solidFill>
                    <a:srgbClr val="595959"/>
                  </a:solidFill>
                  <a:latin typeface="Arimo Bold"/>
                  <a:ea typeface="Arimo Bold"/>
                  <a:cs typeface="Arimo Bold"/>
                  <a:sym typeface="Arimo Bold"/>
                </a:rPr>
                <a:t>1</a:t>
              </a:r>
              <a:r>
                <a:rPr lang="zh-TW" altLang="en-US" sz="2100" dirty="0">
                  <a:solidFill>
                    <a:srgbClr val="595959"/>
                  </a:solidFill>
                  <a:latin typeface="Arimo Bold"/>
                  <a:ea typeface="Arimo Bold"/>
                  <a:cs typeface="Arimo Bold"/>
                  <a:sym typeface="Arimo Bold"/>
                </a:rPr>
                <a:t>）目前臺灣少有雷雨胞形成、移動與位置追蹤之預測（</a:t>
              </a:r>
              <a:r>
                <a:rPr lang="en-US" altLang="zh-TW" sz="2100" dirty="0">
                  <a:solidFill>
                    <a:srgbClr val="595959"/>
                  </a:solidFill>
                  <a:latin typeface="Arimo Bold"/>
                  <a:ea typeface="Arimo Bold"/>
                  <a:cs typeface="Arimo Bold"/>
                  <a:sym typeface="Arimo Bold"/>
                </a:rPr>
                <a:t>2</a:t>
              </a:r>
              <a:r>
                <a:rPr lang="zh-TW" altLang="en-US" sz="2100" dirty="0">
                  <a:solidFill>
                    <a:srgbClr val="595959"/>
                  </a:solidFill>
                  <a:latin typeface="Arimo Bold"/>
                  <a:ea typeface="Arimo Bold"/>
                  <a:cs typeface="Arimo Bold"/>
                  <a:sym typeface="Arimo Bold"/>
                </a:rPr>
                <a:t>）觀測時雷雨系統已進入成熟期，對於雨胞生成之氣象資訊極為缺乏。</a:t>
              </a:r>
              <a:endParaRPr lang="en-US" altLang="zh-TW" sz="2100" dirty="0">
                <a:solidFill>
                  <a:srgbClr val="595959"/>
                </a:solidFill>
                <a:latin typeface="Arimo Bold"/>
                <a:ea typeface="Arimo Bold"/>
                <a:cs typeface="Arimo Bold"/>
                <a:sym typeface="Arimo Bold"/>
              </a:endParaRPr>
            </a:p>
            <a:p>
              <a:pPr lvl="1">
                <a:lnSpc>
                  <a:spcPts val="3600"/>
                </a:lnSpc>
              </a:pPr>
              <a:r>
                <a:rPr lang="zh-TW" altLang="en-US" sz="2100" dirty="0">
                  <a:solidFill>
                    <a:srgbClr val="595959"/>
                  </a:solidFill>
                  <a:latin typeface="Arimo Bold"/>
                  <a:ea typeface="Arimo Bold"/>
                  <a:cs typeface="Arimo Bold"/>
                  <a:sym typeface="Arimo Bold"/>
                </a:rPr>
                <a:t>本研究旨在提升午後雷陣雨之預測，利用雨胞追蹤演算法由雷達資料的回波值來辨識雨胞位置並追蹤雨胞的移動，視覺化當下降雨事件的雨胞覆蓋區域，用以未來結合衛星資料預測。</a:t>
              </a:r>
              <a:endParaRPr lang="en-US" altLang="zh-TW" sz="2100" dirty="0">
                <a:solidFill>
                  <a:srgbClr val="595959"/>
                </a:solidFill>
                <a:latin typeface="Arimo Bold"/>
                <a:ea typeface="Arimo Bold"/>
                <a:cs typeface="Arimo Bold"/>
                <a:sym typeface="Arimo Bold"/>
              </a:endParaRPr>
            </a:p>
            <a:p>
              <a:pPr algn="l">
                <a:lnSpc>
                  <a:spcPts val="3600"/>
                </a:lnSpc>
              </a:pPr>
              <a:endParaRPr lang="zh-TW" altLang="en-US" sz="2100" b="1" dirty="0">
                <a:solidFill>
                  <a:srgbClr val="595959"/>
                </a:solidFill>
                <a:latin typeface="Arimo Bold"/>
                <a:ea typeface="Arimo Bold"/>
                <a:cs typeface="Arimo Bold"/>
                <a:sym typeface="Arimo Bold"/>
              </a:endParaRPr>
            </a:p>
          </p:txBody>
        </p:sp>
      </p:grpSp>
      <p:grpSp>
        <p:nvGrpSpPr>
          <p:cNvPr id="3" name="Group 3"/>
          <p:cNvGrpSpPr/>
          <p:nvPr/>
        </p:nvGrpSpPr>
        <p:grpSpPr>
          <a:xfrm>
            <a:off x="5571640" y="4067113"/>
            <a:ext cx="5060605" cy="785200"/>
            <a:chOff x="0" y="0"/>
            <a:chExt cx="4640161" cy="1046933"/>
          </a:xfrm>
        </p:grpSpPr>
        <p:sp>
          <p:nvSpPr>
            <p:cNvPr id="4" name="Freeform 4"/>
            <p:cNvSpPr/>
            <p:nvPr/>
          </p:nvSpPr>
          <p:spPr>
            <a:xfrm>
              <a:off x="4191" y="4191"/>
              <a:ext cx="4631690" cy="1038479"/>
            </a:xfrm>
            <a:custGeom>
              <a:avLst/>
              <a:gdLst/>
              <a:ahLst/>
              <a:cxnLst/>
              <a:rect l="l" t="t" r="r" b="b"/>
              <a:pathLst>
                <a:path w="4631690" h="1038479">
                  <a:moveTo>
                    <a:pt x="0" y="0"/>
                  </a:moveTo>
                  <a:lnTo>
                    <a:pt x="4212082" y="0"/>
                  </a:lnTo>
                  <a:lnTo>
                    <a:pt x="4631690" y="416941"/>
                  </a:lnTo>
                  <a:lnTo>
                    <a:pt x="4631690" y="1038479"/>
                  </a:lnTo>
                  <a:lnTo>
                    <a:pt x="419608" y="1038479"/>
                  </a:lnTo>
                  <a:lnTo>
                    <a:pt x="0" y="621538"/>
                  </a:lnTo>
                  <a:lnTo>
                    <a:pt x="0" y="0"/>
                  </a:lnTo>
                  <a:close/>
                </a:path>
              </a:pathLst>
            </a:custGeom>
            <a:solidFill>
              <a:srgbClr val="333F50"/>
            </a:solidFill>
          </p:spPr>
          <p:txBody>
            <a:bodyPr/>
            <a:lstStyle/>
            <a:p>
              <a:endParaRPr lang="zh-TW" altLang="en-US"/>
            </a:p>
          </p:txBody>
        </p:sp>
        <p:sp>
          <p:nvSpPr>
            <p:cNvPr id="5" name="Freeform 5"/>
            <p:cNvSpPr/>
            <p:nvPr/>
          </p:nvSpPr>
          <p:spPr>
            <a:xfrm>
              <a:off x="0" y="0"/>
              <a:ext cx="4640072" cy="1046988"/>
            </a:xfrm>
            <a:custGeom>
              <a:avLst/>
              <a:gdLst/>
              <a:ahLst/>
              <a:cxnLst/>
              <a:rect l="l" t="t" r="r" b="b"/>
              <a:pathLst>
                <a:path w="4640072" h="1046988">
                  <a:moveTo>
                    <a:pt x="4191" y="0"/>
                  </a:moveTo>
                  <a:lnTo>
                    <a:pt x="4216273" y="0"/>
                  </a:lnTo>
                  <a:cubicBezTo>
                    <a:pt x="4217416" y="0"/>
                    <a:pt x="4218432" y="381"/>
                    <a:pt x="4219194" y="1270"/>
                  </a:cubicBezTo>
                  <a:lnTo>
                    <a:pt x="4638802" y="418211"/>
                  </a:lnTo>
                  <a:cubicBezTo>
                    <a:pt x="4639564" y="418973"/>
                    <a:pt x="4640072" y="420116"/>
                    <a:pt x="4640072" y="421259"/>
                  </a:cubicBezTo>
                  <a:lnTo>
                    <a:pt x="4640072" y="1042670"/>
                  </a:lnTo>
                  <a:lnTo>
                    <a:pt x="4635881" y="1042670"/>
                  </a:lnTo>
                  <a:lnTo>
                    <a:pt x="4635881" y="1038479"/>
                  </a:lnTo>
                  <a:lnTo>
                    <a:pt x="4635881" y="1042670"/>
                  </a:lnTo>
                  <a:lnTo>
                    <a:pt x="4635881" y="1046861"/>
                  </a:lnTo>
                  <a:lnTo>
                    <a:pt x="423799" y="1046861"/>
                  </a:lnTo>
                  <a:cubicBezTo>
                    <a:pt x="422656" y="1046861"/>
                    <a:pt x="421640" y="1046480"/>
                    <a:pt x="420878" y="1045591"/>
                  </a:cubicBezTo>
                  <a:lnTo>
                    <a:pt x="1270" y="628777"/>
                  </a:lnTo>
                  <a:cubicBezTo>
                    <a:pt x="508" y="628015"/>
                    <a:pt x="0" y="626872"/>
                    <a:pt x="0" y="625729"/>
                  </a:cubicBezTo>
                  <a:lnTo>
                    <a:pt x="0" y="4191"/>
                  </a:lnTo>
                  <a:cubicBezTo>
                    <a:pt x="0" y="1905"/>
                    <a:pt x="1905" y="0"/>
                    <a:pt x="4191" y="0"/>
                  </a:cubicBezTo>
                  <a:moveTo>
                    <a:pt x="4191" y="8509"/>
                  </a:moveTo>
                  <a:lnTo>
                    <a:pt x="4191" y="4191"/>
                  </a:lnTo>
                  <a:lnTo>
                    <a:pt x="8509" y="4191"/>
                  </a:lnTo>
                  <a:lnTo>
                    <a:pt x="8509" y="625729"/>
                  </a:lnTo>
                  <a:lnTo>
                    <a:pt x="4191" y="625729"/>
                  </a:lnTo>
                  <a:lnTo>
                    <a:pt x="7112" y="622681"/>
                  </a:lnTo>
                  <a:lnTo>
                    <a:pt x="426847" y="1039749"/>
                  </a:lnTo>
                  <a:lnTo>
                    <a:pt x="423926" y="1042797"/>
                  </a:lnTo>
                  <a:lnTo>
                    <a:pt x="423926" y="1038606"/>
                  </a:lnTo>
                  <a:lnTo>
                    <a:pt x="4635881" y="1038606"/>
                  </a:lnTo>
                  <a:cubicBezTo>
                    <a:pt x="4638167" y="1038606"/>
                    <a:pt x="4640072" y="1040511"/>
                    <a:pt x="4640072" y="1042797"/>
                  </a:cubicBezTo>
                  <a:cubicBezTo>
                    <a:pt x="4640072" y="1045083"/>
                    <a:pt x="4638167" y="1046988"/>
                    <a:pt x="4635881" y="1046988"/>
                  </a:cubicBezTo>
                  <a:cubicBezTo>
                    <a:pt x="4633595" y="1046988"/>
                    <a:pt x="4631690" y="1045083"/>
                    <a:pt x="4631690" y="1042797"/>
                  </a:cubicBezTo>
                  <a:lnTo>
                    <a:pt x="4631690" y="421259"/>
                  </a:lnTo>
                  <a:lnTo>
                    <a:pt x="4635881" y="421259"/>
                  </a:lnTo>
                  <a:lnTo>
                    <a:pt x="4632960" y="424307"/>
                  </a:lnTo>
                  <a:lnTo>
                    <a:pt x="4213352" y="7239"/>
                  </a:lnTo>
                  <a:lnTo>
                    <a:pt x="4216273" y="4191"/>
                  </a:lnTo>
                  <a:lnTo>
                    <a:pt x="4216273" y="8509"/>
                  </a:lnTo>
                  <a:lnTo>
                    <a:pt x="4191" y="8509"/>
                  </a:lnTo>
                  <a:close/>
                </a:path>
              </a:pathLst>
            </a:custGeom>
            <a:solidFill>
              <a:srgbClr val="FFFFFF"/>
            </a:solidFill>
          </p:spPr>
          <p:txBody>
            <a:bodyPr/>
            <a:lstStyle/>
            <a:p>
              <a:endParaRPr lang="zh-TW" altLang="en-US"/>
            </a:p>
          </p:txBody>
        </p:sp>
        <p:sp>
          <p:nvSpPr>
            <p:cNvPr id="6" name="TextBox 6"/>
            <p:cNvSpPr txBox="1"/>
            <p:nvPr/>
          </p:nvSpPr>
          <p:spPr>
            <a:xfrm>
              <a:off x="0" y="-19050"/>
              <a:ext cx="4640161" cy="1065983"/>
            </a:xfrm>
            <a:prstGeom prst="rect">
              <a:avLst/>
            </a:prstGeom>
          </p:spPr>
          <p:txBody>
            <a:bodyPr lIns="50800" tIns="50800" rIns="50800" bIns="50800" rtlCol="0" anchor="ctr"/>
            <a:lstStyle/>
            <a:p>
              <a:pPr algn="ctr">
                <a:lnSpc>
                  <a:spcPts val="5759"/>
                </a:lnSpc>
              </a:pPr>
              <a:r>
                <a:rPr lang="en-US" sz="4800" dirty="0" err="1">
                  <a:solidFill>
                    <a:srgbClr val="FFFFFF"/>
                  </a:solidFill>
                  <a:latin typeface="Arimo Bold"/>
                  <a:ea typeface="Arimo Bold"/>
                  <a:cs typeface="Arimo Bold"/>
                  <a:sym typeface="Arimo Bold"/>
                </a:rPr>
                <a:t>研究背景</a:t>
              </a:r>
              <a:r>
                <a:rPr lang="zh-TW" altLang="en-US" sz="4800" dirty="0">
                  <a:solidFill>
                    <a:srgbClr val="FFFFFF"/>
                  </a:solidFill>
                  <a:latin typeface="Arimo Bold"/>
                  <a:ea typeface="Arimo Bold"/>
                  <a:cs typeface="Arimo Bold"/>
                  <a:sym typeface="Arimo Bold"/>
                </a:rPr>
                <a:t>和目標</a:t>
              </a:r>
              <a:endParaRPr lang="en-US" sz="4800" dirty="0">
                <a:solidFill>
                  <a:srgbClr val="FFFFFF"/>
                </a:solidFill>
                <a:latin typeface="Arimo Bold"/>
                <a:ea typeface="Arimo Bold"/>
                <a:cs typeface="Arimo Bold"/>
                <a:sym typeface="Arimo Bold"/>
              </a:endParaRPr>
            </a:p>
          </p:txBody>
        </p:sp>
      </p:grpSp>
      <p:grpSp>
        <p:nvGrpSpPr>
          <p:cNvPr id="193" name="群組 192">
            <a:extLst>
              <a:ext uri="{FF2B5EF4-FFF2-40B4-BE49-F238E27FC236}">
                <a16:creationId xmlns:a16="http://schemas.microsoft.com/office/drawing/2014/main" id="{3E874E04-ED85-A585-C7DB-E89799F34D6D}"/>
              </a:ext>
            </a:extLst>
          </p:cNvPr>
          <p:cNvGrpSpPr/>
          <p:nvPr/>
        </p:nvGrpSpPr>
        <p:grpSpPr>
          <a:xfrm>
            <a:off x="5547675" y="8457668"/>
            <a:ext cx="15413792" cy="5687888"/>
            <a:chOff x="5432791" y="8756006"/>
            <a:chExt cx="15599904" cy="5687888"/>
          </a:xfrm>
        </p:grpSpPr>
        <p:grpSp>
          <p:nvGrpSpPr>
            <p:cNvPr id="176" name="群組 175">
              <a:extLst>
                <a:ext uri="{FF2B5EF4-FFF2-40B4-BE49-F238E27FC236}">
                  <a16:creationId xmlns:a16="http://schemas.microsoft.com/office/drawing/2014/main" id="{13AB3F2C-C124-53C4-FBFF-96B497A32294}"/>
                </a:ext>
              </a:extLst>
            </p:cNvPr>
            <p:cNvGrpSpPr/>
            <p:nvPr/>
          </p:nvGrpSpPr>
          <p:grpSpPr>
            <a:xfrm>
              <a:off x="5432791" y="9366917"/>
              <a:ext cx="15599904" cy="5076977"/>
              <a:chOff x="5374146" y="8981923"/>
              <a:chExt cx="15599904" cy="5076977"/>
            </a:xfrm>
          </p:grpSpPr>
          <p:sp>
            <p:nvSpPr>
              <p:cNvPr id="70" name="Freeform 59">
                <a:extLst>
                  <a:ext uri="{FF2B5EF4-FFF2-40B4-BE49-F238E27FC236}">
                    <a16:creationId xmlns:a16="http://schemas.microsoft.com/office/drawing/2014/main" id="{037B6B6D-0AE3-B3C1-7B7E-C993F7A01837}"/>
                  </a:ext>
                </a:extLst>
              </p:cNvPr>
              <p:cNvSpPr/>
              <p:nvPr/>
            </p:nvSpPr>
            <p:spPr>
              <a:xfrm>
                <a:off x="5374146" y="8981923"/>
                <a:ext cx="15599904" cy="5076977"/>
              </a:xfrm>
              <a:custGeom>
                <a:avLst/>
                <a:gdLst/>
                <a:ahLst/>
                <a:cxnLst/>
                <a:rect l="l" t="t" r="r" b="b"/>
                <a:pathLst>
                  <a:path w="20246713" h="14138979">
                    <a:moveTo>
                      <a:pt x="0" y="0"/>
                    </a:moveTo>
                    <a:lnTo>
                      <a:pt x="20246713" y="0"/>
                    </a:lnTo>
                    <a:lnTo>
                      <a:pt x="20246713" y="14138979"/>
                    </a:lnTo>
                    <a:lnTo>
                      <a:pt x="0" y="14138979"/>
                    </a:lnTo>
                    <a:lnTo>
                      <a:pt x="0" y="0"/>
                    </a:lnTo>
                    <a:close/>
                  </a:path>
                </a:pathLst>
              </a:custGeom>
              <a:blipFill>
                <a:blip r:embed="rId2"/>
                <a:stretch>
                  <a:fillRect t="-1849" b="-1849"/>
                </a:stretch>
              </a:blipFill>
              <a:ln>
                <a:solidFill>
                  <a:schemeClr val="bg1"/>
                </a:solidFill>
              </a:ln>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grpSp>
            <p:nvGrpSpPr>
              <p:cNvPr id="15" name="Group 15"/>
              <p:cNvGrpSpPr/>
              <p:nvPr/>
            </p:nvGrpSpPr>
            <p:grpSpPr>
              <a:xfrm>
                <a:off x="5854930" y="9282950"/>
                <a:ext cx="14665440" cy="4226225"/>
                <a:chOff x="0" y="0"/>
                <a:chExt cx="19553920" cy="5634965"/>
              </a:xfrm>
            </p:grpSpPr>
            <p:sp>
              <p:nvSpPr>
                <p:cNvPr id="16" name="Freeform 16"/>
                <p:cNvSpPr/>
                <p:nvPr/>
              </p:nvSpPr>
              <p:spPr>
                <a:xfrm>
                  <a:off x="876491" y="0"/>
                  <a:ext cx="3599079" cy="3152626"/>
                </a:xfrm>
                <a:custGeom>
                  <a:avLst/>
                  <a:gdLst/>
                  <a:ahLst/>
                  <a:cxnLst/>
                  <a:rect l="l" t="t" r="r" b="b"/>
                  <a:pathLst>
                    <a:path w="3599079" h="3152625">
                      <a:moveTo>
                        <a:pt x="0" y="0"/>
                      </a:moveTo>
                      <a:lnTo>
                        <a:pt x="3599079" y="0"/>
                      </a:lnTo>
                      <a:lnTo>
                        <a:pt x="3599079" y="3152625"/>
                      </a:lnTo>
                      <a:lnTo>
                        <a:pt x="0" y="31526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17" name="Group 17"/>
                <p:cNvGrpSpPr/>
                <p:nvPr/>
              </p:nvGrpSpPr>
              <p:grpSpPr>
                <a:xfrm>
                  <a:off x="0" y="687498"/>
                  <a:ext cx="1772260" cy="1774890"/>
                  <a:chOff x="0" y="2"/>
                  <a:chExt cx="1369568" cy="1371600"/>
                </a:xfrm>
              </p:grpSpPr>
              <p:sp>
                <p:nvSpPr>
                  <p:cNvPr id="18" name="Freeform 18"/>
                  <p:cNvSpPr/>
                  <p:nvPr/>
                </p:nvSpPr>
                <p:spPr>
                  <a:xfrm>
                    <a:off x="0" y="2"/>
                    <a:ext cx="1369568" cy="1371600"/>
                  </a:xfrm>
                  <a:custGeom>
                    <a:avLst/>
                    <a:gdLst/>
                    <a:ahLst/>
                    <a:cxnLst/>
                    <a:rect l="l" t="t" r="r" b="b"/>
                    <a:pathLst>
                      <a:path w="1369568" h="1371600">
                        <a:moveTo>
                          <a:pt x="0" y="685800"/>
                        </a:moveTo>
                        <a:cubicBezTo>
                          <a:pt x="0" y="307086"/>
                          <a:pt x="306578" y="0"/>
                          <a:pt x="684784" y="0"/>
                        </a:cubicBezTo>
                        <a:cubicBezTo>
                          <a:pt x="1062990" y="0"/>
                          <a:pt x="1369568" y="307086"/>
                          <a:pt x="1369568" y="685800"/>
                        </a:cubicBezTo>
                        <a:cubicBezTo>
                          <a:pt x="1369568" y="1064514"/>
                          <a:pt x="1062990" y="1371600"/>
                          <a:pt x="684784" y="1371600"/>
                        </a:cubicBezTo>
                        <a:cubicBezTo>
                          <a:pt x="306578" y="1371600"/>
                          <a:pt x="0" y="1064514"/>
                          <a:pt x="0" y="685800"/>
                        </a:cubicBezTo>
                        <a:close/>
                      </a:path>
                    </a:pathLst>
                  </a:custGeom>
                  <a:solidFill>
                    <a:srgbClr val="44546A"/>
                  </a:solidFill>
                </p:spPr>
                <p:txBody>
                  <a:bodyPr/>
                  <a:lstStyle/>
                  <a:p>
                    <a:endParaRPr lang="zh-TW" altLang="en-US"/>
                  </a:p>
                </p:txBody>
              </p:sp>
            </p:grpSp>
            <p:grpSp>
              <p:nvGrpSpPr>
                <p:cNvPr id="19" name="Group 19"/>
                <p:cNvGrpSpPr/>
                <p:nvPr/>
              </p:nvGrpSpPr>
              <p:grpSpPr>
                <a:xfrm>
                  <a:off x="205426" y="883401"/>
                  <a:ext cx="1361297" cy="1376343"/>
                  <a:chOff x="0" y="-9525"/>
                  <a:chExt cx="1361297" cy="1376343"/>
                </a:xfrm>
              </p:grpSpPr>
              <p:sp>
                <p:nvSpPr>
                  <p:cNvPr id="20" name="Freeform 20"/>
                  <p:cNvSpPr/>
                  <p:nvPr/>
                </p:nvSpPr>
                <p:spPr>
                  <a:xfrm>
                    <a:off x="0" y="-1"/>
                    <a:ext cx="1361242" cy="1366819"/>
                  </a:xfrm>
                  <a:custGeom>
                    <a:avLst/>
                    <a:gdLst/>
                    <a:ahLst/>
                    <a:cxnLst/>
                    <a:rect l="l" t="t" r="r" b="b"/>
                    <a:pathLst>
                      <a:path w="1361242" h="1366817">
                        <a:moveTo>
                          <a:pt x="0" y="683333"/>
                        </a:moveTo>
                        <a:cubicBezTo>
                          <a:pt x="0" y="306004"/>
                          <a:pt x="304689" y="0"/>
                          <a:pt x="680703" y="0"/>
                        </a:cubicBezTo>
                        <a:cubicBezTo>
                          <a:pt x="1056717" y="0"/>
                          <a:pt x="1361242" y="306004"/>
                          <a:pt x="1361242" y="683333"/>
                        </a:cubicBezTo>
                        <a:cubicBezTo>
                          <a:pt x="1361242" y="1060661"/>
                          <a:pt x="1056553" y="1366817"/>
                          <a:pt x="680703" y="1366817"/>
                        </a:cubicBezTo>
                        <a:cubicBezTo>
                          <a:pt x="304854" y="1366817"/>
                          <a:pt x="0" y="1060826"/>
                          <a:pt x="0" y="683333"/>
                        </a:cubicBezTo>
                        <a:close/>
                      </a:path>
                    </a:pathLst>
                  </a:custGeom>
                  <a:solidFill>
                    <a:srgbClr val="FFFFFF"/>
                  </a:solidFill>
                </p:spPr>
                <p:txBody>
                  <a:bodyPr/>
                  <a:lstStyle/>
                  <a:p>
                    <a:endParaRPr lang="zh-TW" altLang="en-US"/>
                  </a:p>
                </p:txBody>
              </p:sp>
              <p:sp>
                <p:nvSpPr>
                  <p:cNvPr id="21" name="TextBox 21"/>
                  <p:cNvSpPr txBox="1"/>
                  <p:nvPr/>
                </p:nvSpPr>
                <p:spPr>
                  <a:xfrm>
                    <a:off x="0" y="-9525"/>
                    <a:ext cx="1361297" cy="1376299"/>
                  </a:xfrm>
                  <a:prstGeom prst="rect">
                    <a:avLst/>
                  </a:prstGeom>
                </p:spPr>
                <p:txBody>
                  <a:bodyPr lIns="50800" tIns="50800" rIns="50800" bIns="50800" rtlCol="0" anchor="ctr"/>
                  <a:lstStyle/>
                  <a:p>
                    <a:pPr algn="ctr">
                      <a:lnSpc>
                        <a:spcPts val="2879"/>
                      </a:lnSpc>
                    </a:pPr>
                    <a:r>
                      <a:rPr lang="en-US" sz="2400" dirty="0">
                        <a:solidFill>
                          <a:srgbClr val="44546A"/>
                        </a:solidFill>
                        <a:latin typeface="Arimo Bold"/>
                        <a:ea typeface="Arimo Bold"/>
                        <a:cs typeface="Arimo Bold"/>
                        <a:sym typeface="Arimo Bold"/>
                      </a:rPr>
                      <a:t>01</a:t>
                    </a:r>
                  </a:p>
                </p:txBody>
              </p:sp>
            </p:grpSp>
            <p:sp>
              <p:nvSpPr>
                <p:cNvPr id="22" name="TextBox 22"/>
                <p:cNvSpPr txBox="1"/>
                <p:nvPr/>
              </p:nvSpPr>
              <p:spPr>
                <a:xfrm>
                  <a:off x="1865888" y="1296912"/>
                  <a:ext cx="2006487" cy="539750"/>
                </a:xfrm>
                <a:prstGeom prst="rect">
                  <a:avLst/>
                </a:prstGeom>
              </p:spPr>
              <p:txBody>
                <a:bodyPr lIns="0" tIns="0" rIns="0" bIns="0" rtlCol="0" anchor="t">
                  <a:spAutoFit/>
                </a:bodyPr>
                <a:lstStyle/>
                <a:p>
                  <a:pPr algn="l">
                    <a:lnSpc>
                      <a:spcPts val="3119"/>
                    </a:lnSpc>
                  </a:pPr>
                  <a:r>
                    <a:rPr lang="en-US" sz="2599" dirty="0" err="1">
                      <a:solidFill>
                        <a:srgbClr val="FFFFFF"/>
                      </a:solidFill>
                      <a:latin typeface="Arimo Bold"/>
                      <a:ea typeface="Arimo Bold"/>
                      <a:cs typeface="Arimo Bold"/>
                      <a:sym typeface="Arimo Bold"/>
                    </a:rPr>
                    <a:t>資料收集</a:t>
                  </a:r>
                  <a:endParaRPr lang="en-US" sz="2599" dirty="0">
                    <a:solidFill>
                      <a:srgbClr val="FFFFFF"/>
                    </a:solidFill>
                    <a:latin typeface="Arimo Bold"/>
                    <a:ea typeface="Arimo Bold"/>
                    <a:cs typeface="Arimo Bold"/>
                    <a:sym typeface="Arimo Bold"/>
                  </a:endParaRPr>
                </a:p>
              </p:txBody>
            </p:sp>
            <p:sp>
              <p:nvSpPr>
                <p:cNvPr id="23" name="TextBox 23"/>
                <p:cNvSpPr txBox="1"/>
                <p:nvPr/>
              </p:nvSpPr>
              <p:spPr>
                <a:xfrm>
                  <a:off x="887444" y="3396577"/>
                  <a:ext cx="3963373" cy="528509"/>
                </a:xfrm>
                <a:prstGeom prst="rect">
                  <a:avLst/>
                </a:prstGeom>
              </p:spPr>
              <p:txBody>
                <a:bodyPr lIns="0" tIns="0" rIns="0" bIns="0" rtlCol="0" anchor="t">
                  <a:spAutoFit/>
                </a:bodyPr>
                <a:lstStyle/>
                <a:p>
                  <a:pPr algn="l">
                    <a:lnSpc>
                      <a:spcPts val="3105"/>
                    </a:lnSpc>
                  </a:pPr>
                  <a:r>
                    <a:rPr lang="en-US" sz="2588" dirty="0" err="1">
                      <a:solidFill>
                        <a:srgbClr val="445469"/>
                      </a:solidFill>
                      <a:latin typeface="Arimo Bold"/>
                      <a:ea typeface="Arimo Bold"/>
                      <a:cs typeface="Arimo Bold"/>
                      <a:sym typeface="Arimo Bold"/>
                    </a:rPr>
                    <a:t>雷達資料</a:t>
                  </a:r>
                  <a:endParaRPr lang="en-US" sz="2588" dirty="0">
                    <a:solidFill>
                      <a:srgbClr val="445469"/>
                    </a:solidFill>
                    <a:latin typeface="Arimo Bold"/>
                    <a:ea typeface="Arimo Bold"/>
                    <a:cs typeface="Arimo Bold"/>
                    <a:sym typeface="Arimo Bold"/>
                  </a:endParaRPr>
                </a:p>
              </p:txBody>
            </p:sp>
            <p:sp>
              <p:nvSpPr>
                <p:cNvPr id="24" name="TextBox 24"/>
                <p:cNvSpPr txBox="1"/>
                <p:nvPr/>
              </p:nvSpPr>
              <p:spPr>
                <a:xfrm>
                  <a:off x="887444" y="3903907"/>
                  <a:ext cx="3645647" cy="1282402"/>
                </a:xfrm>
                <a:prstGeom prst="rect">
                  <a:avLst/>
                </a:prstGeom>
              </p:spPr>
              <p:txBody>
                <a:bodyPr lIns="0" tIns="0" rIns="0" bIns="0" rtlCol="0" anchor="t">
                  <a:spAutoFit/>
                </a:bodyPr>
                <a:lstStyle/>
                <a:p>
                  <a:pPr algn="l">
                    <a:lnSpc>
                      <a:spcPts val="2519"/>
                    </a:lnSpc>
                  </a:pPr>
                  <a:r>
                    <a:rPr lang="en-US" sz="2099" dirty="0" err="1">
                      <a:solidFill>
                        <a:srgbClr val="445469"/>
                      </a:solidFill>
                      <a:latin typeface="Arimo"/>
                      <a:ea typeface="Arimo"/>
                      <a:cs typeface="Arimo"/>
                      <a:sym typeface="Arimo"/>
                    </a:rPr>
                    <a:t>中央氣象</a:t>
                  </a:r>
                  <a:r>
                    <a:rPr lang="zh-TW" altLang="en-US" sz="2099" dirty="0">
                      <a:solidFill>
                        <a:srgbClr val="445469"/>
                      </a:solidFill>
                      <a:latin typeface="Arimo"/>
                      <a:ea typeface="Arimo"/>
                      <a:cs typeface="Arimo"/>
                      <a:sym typeface="Arimo"/>
                    </a:rPr>
                    <a:t>署提供臺</a:t>
                  </a:r>
                  <a:r>
                    <a:rPr lang="en-US" sz="2099" dirty="0">
                      <a:solidFill>
                        <a:srgbClr val="445469"/>
                      </a:solidFill>
                      <a:latin typeface="Arimo"/>
                      <a:ea typeface="Arimo"/>
                      <a:cs typeface="Arimo"/>
                      <a:sym typeface="Arimo"/>
                    </a:rPr>
                    <a:t>灣地區2020-2024每</a:t>
                  </a:r>
                  <a:r>
                    <a:rPr lang="en-US" altLang="zh-TW" sz="2099" dirty="0">
                      <a:solidFill>
                        <a:srgbClr val="445469"/>
                      </a:solidFill>
                      <a:latin typeface="Arimo"/>
                      <a:ea typeface="Arimo"/>
                      <a:cs typeface="Arimo"/>
                      <a:sym typeface="Arimo"/>
                    </a:rPr>
                    <a:t>10分鐘 </a:t>
                  </a:r>
                  <a:r>
                    <a:rPr lang="en-US" sz="2099" dirty="0" err="1">
                      <a:solidFill>
                        <a:srgbClr val="445469"/>
                      </a:solidFill>
                      <a:latin typeface="Arimo"/>
                      <a:ea typeface="Arimo"/>
                      <a:cs typeface="Arimo"/>
                      <a:sym typeface="Arimo"/>
                    </a:rPr>
                    <a:t>雷達回波數據</a:t>
                  </a:r>
                  <a:r>
                    <a:rPr lang="en-US" sz="2099" dirty="0">
                      <a:solidFill>
                        <a:srgbClr val="445469"/>
                      </a:solidFill>
                      <a:latin typeface="Arimo"/>
                      <a:ea typeface="Arimo"/>
                      <a:cs typeface="Arimo"/>
                      <a:sym typeface="Arimo"/>
                    </a:rPr>
                    <a:t>。</a:t>
                  </a:r>
                </a:p>
              </p:txBody>
            </p:sp>
            <p:grpSp>
              <p:nvGrpSpPr>
                <p:cNvPr id="25" name="Group 25"/>
                <p:cNvGrpSpPr/>
                <p:nvPr/>
              </p:nvGrpSpPr>
              <p:grpSpPr>
                <a:xfrm>
                  <a:off x="5773871" y="10957"/>
                  <a:ext cx="3580018" cy="3130709"/>
                  <a:chOff x="0" y="0"/>
                  <a:chExt cx="2766567" cy="2419350"/>
                </a:xfrm>
              </p:grpSpPr>
              <p:sp>
                <p:nvSpPr>
                  <p:cNvPr id="26" name="Freeform 26"/>
                  <p:cNvSpPr/>
                  <p:nvPr/>
                </p:nvSpPr>
                <p:spPr>
                  <a:xfrm>
                    <a:off x="0" y="0"/>
                    <a:ext cx="2766567" cy="2419350"/>
                  </a:xfrm>
                  <a:custGeom>
                    <a:avLst/>
                    <a:gdLst/>
                    <a:ahLst/>
                    <a:cxnLst/>
                    <a:rect l="l" t="t" r="r" b="b"/>
                    <a:pathLst>
                      <a:path w="2766568" h="2419350">
                        <a:moveTo>
                          <a:pt x="0" y="362966"/>
                        </a:moveTo>
                        <a:lnTo>
                          <a:pt x="1557401" y="362966"/>
                        </a:lnTo>
                        <a:lnTo>
                          <a:pt x="1557401" y="0"/>
                        </a:lnTo>
                        <a:lnTo>
                          <a:pt x="2766568" y="1209675"/>
                        </a:lnTo>
                        <a:lnTo>
                          <a:pt x="1557401" y="2419350"/>
                        </a:lnTo>
                        <a:lnTo>
                          <a:pt x="1557401" y="2056384"/>
                        </a:lnTo>
                        <a:lnTo>
                          <a:pt x="0" y="2056384"/>
                        </a:lnTo>
                        <a:lnTo>
                          <a:pt x="0" y="362966"/>
                        </a:lnTo>
                        <a:close/>
                      </a:path>
                    </a:pathLst>
                  </a:custGeom>
                  <a:solidFill>
                    <a:srgbClr val="4472C4"/>
                  </a:solidFill>
                </p:spPr>
                <p:txBody>
                  <a:bodyPr/>
                  <a:lstStyle/>
                  <a:p>
                    <a:endParaRPr lang="zh-TW" altLang="en-US"/>
                  </a:p>
                </p:txBody>
              </p:sp>
            </p:grpSp>
            <p:grpSp>
              <p:nvGrpSpPr>
                <p:cNvPr id="27" name="Group 27"/>
                <p:cNvGrpSpPr/>
                <p:nvPr/>
              </p:nvGrpSpPr>
              <p:grpSpPr>
                <a:xfrm>
                  <a:off x="4886426" y="687497"/>
                  <a:ext cx="1772261" cy="1774890"/>
                  <a:chOff x="0" y="2"/>
                  <a:chExt cx="1369568" cy="1371600"/>
                </a:xfrm>
              </p:grpSpPr>
              <p:sp>
                <p:nvSpPr>
                  <p:cNvPr id="28" name="Freeform 28"/>
                  <p:cNvSpPr/>
                  <p:nvPr/>
                </p:nvSpPr>
                <p:spPr>
                  <a:xfrm>
                    <a:off x="0" y="2"/>
                    <a:ext cx="1369568" cy="1371600"/>
                  </a:xfrm>
                  <a:custGeom>
                    <a:avLst/>
                    <a:gdLst/>
                    <a:ahLst/>
                    <a:cxnLst/>
                    <a:rect l="l" t="t" r="r" b="b"/>
                    <a:pathLst>
                      <a:path w="1369568" h="1371600">
                        <a:moveTo>
                          <a:pt x="0" y="685800"/>
                        </a:moveTo>
                        <a:cubicBezTo>
                          <a:pt x="0" y="307086"/>
                          <a:pt x="306578" y="0"/>
                          <a:pt x="684784" y="0"/>
                        </a:cubicBezTo>
                        <a:cubicBezTo>
                          <a:pt x="1062990" y="0"/>
                          <a:pt x="1369568" y="307086"/>
                          <a:pt x="1369568" y="685800"/>
                        </a:cubicBezTo>
                        <a:cubicBezTo>
                          <a:pt x="1369568" y="1064514"/>
                          <a:pt x="1062990" y="1371600"/>
                          <a:pt x="684784" y="1371600"/>
                        </a:cubicBezTo>
                        <a:cubicBezTo>
                          <a:pt x="306578" y="1371600"/>
                          <a:pt x="0" y="1064514"/>
                          <a:pt x="0" y="685800"/>
                        </a:cubicBezTo>
                        <a:close/>
                      </a:path>
                    </a:pathLst>
                  </a:custGeom>
                  <a:solidFill>
                    <a:srgbClr val="44546A"/>
                  </a:solidFill>
                </p:spPr>
                <p:txBody>
                  <a:bodyPr/>
                  <a:lstStyle/>
                  <a:p>
                    <a:endParaRPr lang="zh-TW" altLang="en-US"/>
                  </a:p>
                </p:txBody>
              </p:sp>
            </p:grpSp>
            <p:grpSp>
              <p:nvGrpSpPr>
                <p:cNvPr id="29" name="Group 29"/>
                <p:cNvGrpSpPr/>
                <p:nvPr/>
              </p:nvGrpSpPr>
              <p:grpSpPr>
                <a:xfrm>
                  <a:off x="5091853" y="883400"/>
                  <a:ext cx="1364036" cy="1376341"/>
                  <a:chOff x="0" y="-9525"/>
                  <a:chExt cx="1364036" cy="1376341"/>
                </a:xfrm>
              </p:grpSpPr>
              <p:sp>
                <p:nvSpPr>
                  <p:cNvPr id="30" name="Freeform 30"/>
                  <p:cNvSpPr/>
                  <p:nvPr/>
                </p:nvSpPr>
                <p:spPr>
                  <a:xfrm>
                    <a:off x="0" y="0"/>
                    <a:ext cx="1364036" cy="1366816"/>
                  </a:xfrm>
                  <a:custGeom>
                    <a:avLst/>
                    <a:gdLst/>
                    <a:ahLst/>
                    <a:cxnLst/>
                    <a:rect l="l" t="t" r="r" b="b"/>
                    <a:pathLst>
                      <a:path w="1364036" h="1366817">
                        <a:moveTo>
                          <a:pt x="0" y="683333"/>
                        </a:moveTo>
                        <a:cubicBezTo>
                          <a:pt x="0" y="306004"/>
                          <a:pt x="305347" y="0"/>
                          <a:pt x="682018" y="0"/>
                        </a:cubicBezTo>
                        <a:cubicBezTo>
                          <a:pt x="1058689" y="0"/>
                          <a:pt x="1364036" y="306004"/>
                          <a:pt x="1364036" y="683333"/>
                        </a:cubicBezTo>
                        <a:cubicBezTo>
                          <a:pt x="1364036" y="1060661"/>
                          <a:pt x="1058689" y="1366817"/>
                          <a:pt x="682018" y="1366817"/>
                        </a:cubicBezTo>
                        <a:cubicBezTo>
                          <a:pt x="305347" y="1366817"/>
                          <a:pt x="0" y="1060826"/>
                          <a:pt x="0" y="683333"/>
                        </a:cubicBezTo>
                        <a:close/>
                      </a:path>
                    </a:pathLst>
                  </a:custGeom>
                  <a:solidFill>
                    <a:srgbClr val="FFFFFF"/>
                  </a:solidFill>
                </p:spPr>
                <p:txBody>
                  <a:bodyPr/>
                  <a:lstStyle/>
                  <a:p>
                    <a:endParaRPr lang="zh-TW" altLang="en-US"/>
                  </a:p>
                </p:txBody>
              </p:sp>
              <p:sp>
                <p:nvSpPr>
                  <p:cNvPr id="31" name="TextBox 31"/>
                  <p:cNvSpPr txBox="1"/>
                  <p:nvPr/>
                </p:nvSpPr>
                <p:spPr>
                  <a:xfrm>
                    <a:off x="0" y="-9525"/>
                    <a:ext cx="1364036" cy="1376300"/>
                  </a:xfrm>
                  <a:prstGeom prst="rect">
                    <a:avLst/>
                  </a:prstGeom>
                </p:spPr>
                <p:txBody>
                  <a:bodyPr lIns="50800" tIns="50800" rIns="50800" bIns="50800" rtlCol="0" anchor="ctr"/>
                  <a:lstStyle/>
                  <a:p>
                    <a:pPr algn="ctr">
                      <a:lnSpc>
                        <a:spcPts val="2879"/>
                      </a:lnSpc>
                    </a:pPr>
                    <a:r>
                      <a:rPr lang="en-US" sz="2400">
                        <a:solidFill>
                          <a:srgbClr val="44546A"/>
                        </a:solidFill>
                        <a:latin typeface="Arimo Bold"/>
                        <a:ea typeface="Arimo Bold"/>
                        <a:cs typeface="Arimo Bold"/>
                        <a:sym typeface="Arimo Bold"/>
                      </a:rPr>
                      <a:t>02</a:t>
                    </a:r>
                  </a:p>
                </p:txBody>
              </p:sp>
            </p:grpSp>
            <p:sp>
              <p:nvSpPr>
                <p:cNvPr id="32" name="TextBox 32"/>
                <p:cNvSpPr txBox="1"/>
                <p:nvPr/>
              </p:nvSpPr>
              <p:spPr>
                <a:xfrm>
                  <a:off x="5678004" y="3396577"/>
                  <a:ext cx="3966112" cy="528509"/>
                </a:xfrm>
                <a:prstGeom prst="rect">
                  <a:avLst/>
                </a:prstGeom>
              </p:spPr>
              <p:txBody>
                <a:bodyPr lIns="0" tIns="0" rIns="0" bIns="0" rtlCol="0" anchor="t">
                  <a:spAutoFit/>
                </a:bodyPr>
                <a:lstStyle/>
                <a:p>
                  <a:pPr algn="l">
                    <a:lnSpc>
                      <a:spcPts val="3105"/>
                    </a:lnSpc>
                  </a:pPr>
                  <a:r>
                    <a:rPr lang="en-US" sz="2588">
                      <a:solidFill>
                        <a:srgbClr val="445469"/>
                      </a:solidFill>
                      <a:latin typeface="Arimo Bold"/>
                      <a:ea typeface="Arimo Bold"/>
                      <a:cs typeface="Arimo Bold"/>
                      <a:sym typeface="Arimo Bold"/>
                    </a:rPr>
                    <a:t>雷陣雨事件</a:t>
                  </a:r>
                </a:p>
              </p:txBody>
            </p:sp>
            <p:sp>
              <p:nvSpPr>
                <p:cNvPr id="33" name="TextBox 33"/>
                <p:cNvSpPr txBox="1"/>
                <p:nvPr/>
              </p:nvSpPr>
              <p:spPr>
                <a:xfrm>
                  <a:off x="5675265" y="3939515"/>
                  <a:ext cx="3651124" cy="1695450"/>
                </a:xfrm>
                <a:prstGeom prst="rect">
                  <a:avLst/>
                </a:prstGeom>
              </p:spPr>
              <p:txBody>
                <a:bodyPr lIns="0" tIns="0" rIns="0" bIns="0" rtlCol="0" anchor="t">
                  <a:spAutoFit/>
                </a:bodyPr>
                <a:lstStyle/>
                <a:p>
                  <a:pPr algn="l">
                    <a:lnSpc>
                      <a:spcPts val="2519"/>
                    </a:lnSpc>
                  </a:pPr>
                  <a:r>
                    <a:rPr lang="en-US" sz="2099" dirty="0">
                      <a:solidFill>
                        <a:srgbClr val="445469"/>
                      </a:solidFill>
                      <a:latin typeface="Arimo"/>
                      <a:ea typeface="Arimo"/>
                      <a:cs typeface="Arimo"/>
                      <a:sym typeface="Arimo"/>
                    </a:rPr>
                    <a:t>從新聞、雨量站等去查詢臺北地區近5年來的午後雷陣雨事件(6月-9月)。</a:t>
                  </a:r>
                </a:p>
              </p:txBody>
            </p:sp>
            <p:grpSp>
              <p:nvGrpSpPr>
                <p:cNvPr id="34" name="Group 34"/>
                <p:cNvGrpSpPr/>
                <p:nvPr/>
              </p:nvGrpSpPr>
              <p:grpSpPr>
                <a:xfrm>
                  <a:off x="10769858" y="10957"/>
                  <a:ext cx="3577061" cy="3130709"/>
                  <a:chOff x="0" y="0"/>
                  <a:chExt cx="2764282" cy="2419350"/>
                </a:xfrm>
              </p:grpSpPr>
              <p:sp>
                <p:nvSpPr>
                  <p:cNvPr id="35" name="Freeform 35"/>
                  <p:cNvSpPr/>
                  <p:nvPr/>
                </p:nvSpPr>
                <p:spPr>
                  <a:xfrm>
                    <a:off x="0" y="0"/>
                    <a:ext cx="2764282" cy="2419350"/>
                  </a:xfrm>
                  <a:custGeom>
                    <a:avLst/>
                    <a:gdLst/>
                    <a:ahLst/>
                    <a:cxnLst/>
                    <a:rect l="l" t="t" r="r" b="b"/>
                    <a:pathLst>
                      <a:path w="2764282" h="2419350">
                        <a:moveTo>
                          <a:pt x="0" y="362966"/>
                        </a:moveTo>
                        <a:lnTo>
                          <a:pt x="1556131" y="362966"/>
                        </a:lnTo>
                        <a:lnTo>
                          <a:pt x="1556131" y="0"/>
                        </a:lnTo>
                        <a:lnTo>
                          <a:pt x="2764282" y="1209675"/>
                        </a:lnTo>
                        <a:lnTo>
                          <a:pt x="1556131" y="2419350"/>
                        </a:lnTo>
                        <a:lnTo>
                          <a:pt x="1556131" y="2056384"/>
                        </a:lnTo>
                        <a:lnTo>
                          <a:pt x="0" y="2056384"/>
                        </a:lnTo>
                        <a:lnTo>
                          <a:pt x="0" y="362966"/>
                        </a:lnTo>
                        <a:close/>
                      </a:path>
                    </a:pathLst>
                  </a:custGeom>
                  <a:solidFill>
                    <a:srgbClr val="4472C4"/>
                  </a:solidFill>
                </p:spPr>
                <p:txBody>
                  <a:bodyPr/>
                  <a:lstStyle/>
                  <a:p>
                    <a:endParaRPr lang="zh-TW" altLang="en-US"/>
                  </a:p>
                </p:txBody>
              </p:sp>
            </p:grpSp>
            <p:grpSp>
              <p:nvGrpSpPr>
                <p:cNvPr id="36" name="Group 36"/>
                <p:cNvGrpSpPr/>
                <p:nvPr/>
              </p:nvGrpSpPr>
              <p:grpSpPr>
                <a:xfrm>
                  <a:off x="9882413" y="687498"/>
                  <a:ext cx="1772259" cy="1774890"/>
                  <a:chOff x="0" y="0"/>
                  <a:chExt cx="1369567" cy="1371600"/>
                </a:xfrm>
              </p:grpSpPr>
              <p:sp>
                <p:nvSpPr>
                  <p:cNvPr id="37" name="Freeform 37"/>
                  <p:cNvSpPr/>
                  <p:nvPr/>
                </p:nvSpPr>
                <p:spPr>
                  <a:xfrm>
                    <a:off x="0" y="0"/>
                    <a:ext cx="1369567" cy="1371600"/>
                  </a:xfrm>
                  <a:custGeom>
                    <a:avLst/>
                    <a:gdLst/>
                    <a:ahLst/>
                    <a:cxnLst/>
                    <a:rect l="l" t="t" r="r" b="b"/>
                    <a:pathLst>
                      <a:path w="1369568" h="1371600">
                        <a:moveTo>
                          <a:pt x="0" y="685800"/>
                        </a:moveTo>
                        <a:cubicBezTo>
                          <a:pt x="0" y="307086"/>
                          <a:pt x="306578" y="0"/>
                          <a:pt x="684784" y="0"/>
                        </a:cubicBezTo>
                        <a:cubicBezTo>
                          <a:pt x="1062990" y="0"/>
                          <a:pt x="1369568" y="307086"/>
                          <a:pt x="1369568" y="685800"/>
                        </a:cubicBezTo>
                        <a:cubicBezTo>
                          <a:pt x="1369568" y="1064514"/>
                          <a:pt x="1062990" y="1371600"/>
                          <a:pt x="684784" y="1371600"/>
                        </a:cubicBezTo>
                        <a:cubicBezTo>
                          <a:pt x="306578" y="1371600"/>
                          <a:pt x="0" y="1064514"/>
                          <a:pt x="0" y="685800"/>
                        </a:cubicBezTo>
                        <a:close/>
                      </a:path>
                    </a:pathLst>
                  </a:custGeom>
                  <a:solidFill>
                    <a:srgbClr val="44546A"/>
                  </a:solidFill>
                </p:spPr>
                <p:txBody>
                  <a:bodyPr/>
                  <a:lstStyle/>
                  <a:p>
                    <a:endParaRPr lang="zh-TW" altLang="en-US"/>
                  </a:p>
                </p:txBody>
              </p:sp>
            </p:grpSp>
            <p:grpSp>
              <p:nvGrpSpPr>
                <p:cNvPr id="38" name="Group 38"/>
                <p:cNvGrpSpPr/>
                <p:nvPr/>
              </p:nvGrpSpPr>
              <p:grpSpPr>
                <a:xfrm>
                  <a:off x="10087839" y="883400"/>
                  <a:ext cx="1361297" cy="1376343"/>
                  <a:chOff x="0" y="-9526"/>
                  <a:chExt cx="1361297" cy="1376343"/>
                </a:xfrm>
              </p:grpSpPr>
              <p:sp>
                <p:nvSpPr>
                  <p:cNvPr id="39" name="Freeform 39"/>
                  <p:cNvSpPr/>
                  <p:nvPr/>
                </p:nvSpPr>
                <p:spPr>
                  <a:xfrm>
                    <a:off x="0" y="0"/>
                    <a:ext cx="1361242" cy="1366817"/>
                  </a:xfrm>
                  <a:custGeom>
                    <a:avLst/>
                    <a:gdLst/>
                    <a:ahLst/>
                    <a:cxnLst/>
                    <a:rect l="l" t="t" r="r" b="b"/>
                    <a:pathLst>
                      <a:path w="1361242" h="1366817">
                        <a:moveTo>
                          <a:pt x="0" y="683333"/>
                        </a:moveTo>
                        <a:cubicBezTo>
                          <a:pt x="0" y="306004"/>
                          <a:pt x="304689" y="0"/>
                          <a:pt x="680703" y="0"/>
                        </a:cubicBezTo>
                        <a:cubicBezTo>
                          <a:pt x="1056717" y="0"/>
                          <a:pt x="1361242" y="306004"/>
                          <a:pt x="1361242" y="683333"/>
                        </a:cubicBezTo>
                        <a:cubicBezTo>
                          <a:pt x="1361242" y="1060661"/>
                          <a:pt x="1056553" y="1366817"/>
                          <a:pt x="680703" y="1366817"/>
                        </a:cubicBezTo>
                        <a:cubicBezTo>
                          <a:pt x="304854" y="1366817"/>
                          <a:pt x="0" y="1060826"/>
                          <a:pt x="0" y="683333"/>
                        </a:cubicBezTo>
                        <a:close/>
                      </a:path>
                    </a:pathLst>
                  </a:custGeom>
                  <a:solidFill>
                    <a:srgbClr val="FFFFFF"/>
                  </a:solidFill>
                </p:spPr>
                <p:txBody>
                  <a:bodyPr/>
                  <a:lstStyle/>
                  <a:p>
                    <a:endParaRPr lang="zh-TW" altLang="en-US"/>
                  </a:p>
                </p:txBody>
              </p:sp>
              <p:sp>
                <p:nvSpPr>
                  <p:cNvPr id="40" name="TextBox 40"/>
                  <p:cNvSpPr txBox="1"/>
                  <p:nvPr/>
                </p:nvSpPr>
                <p:spPr>
                  <a:xfrm>
                    <a:off x="0" y="-9526"/>
                    <a:ext cx="1361297" cy="1376298"/>
                  </a:xfrm>
                  <a:prstGeom prst="rect">
                    <a:avLst/>
                  </a:prstGeom>
                </p:spPr>
                <p:txBody>
                  <a:bodyPr lIns="50800" tIns="50800" rIns="50800" bIns="50800" rtlCol="0" anchor="ctr"/>
                  <a:lstStyle/>
                  <a:p>
                    <a:pPr algn="ctr">
                      <a:lnSpc>
                        <a:spcPts val="2879"/>
                      </a:lnSpc>
                    </a:pPr>
                    <a:r>
                      <a:rPr lang="en-US" sz="2400">
                        <a:solidFill>
                          <a:srgbClr val="44546A"/>
                        </a:solidFill>
                        <a:latin typeface="Arimo Bold"/>
                        <a:ea typeface="Arimo Bold"/>
                        <a:cs typeface="Arimo Bold"/>
                        <a:sym typeface="Arimo Bold"/>
                      </a:rPr>
                      <a:t>03</a:t>
                    </a:r>
                  </a:p>
                </p:txBody>
              </p:sp>
            </p:grpSp>
            <p:sp>
              <p:nvSpPr>
                <p:cNvPr id="41" name="TextBox 41"/>
                <p:cNvSpPr txBox="1"/>
                <p:nvPr/>
              </p:nvSpPr>
              <p:spPr>
                <a:xfrm>
                  <a:off x="10769859" y="3396577"/>
                  <a:ext cx="3963373" cy="528509"/>
                </a:xfrm>
                <a:prstGeom prst="rect">
                  <a:avLst/>
                </a:prstGeom>
              </p:spPr>
              <p:txBody>
                <a:bodyPr lIns="0" tIns="0" rIns="0" bIns="0" rtlCol="0" anchor="t">
                  <a:spAutoFit/>
                </a:bodyPr>
                <a:lstStyle/>
                <a:p>
                  <a:pPr algn="l">
                    <a:lnSpc>
                      <a:spcPts val="3105"/>
                    </a:lnSpc>
                  </a:pPr>
                  <a:r>
                    <a:rPr lang="en-US" sz="2588" dirty="0" err="1">
                      <a:solidFill>
                        <a:srgbClr val="445469"/>
                      </a:solidFill>
                      <a:latin typeface="Arimo Bold"/>
                      <a:ea typeface="Arimo Bold"/>
                      <a:cs typeface="Arimo Bold"/>
                      <a:sym typeface="Arimo Bold"/>
                    </a:rPr>
                    <a:t>雨胞辨識和追蹤</a:t>
                  </a:r>
                  <a:endParaRPr lang="en-US" sz="2588" dirty="0">
                    <a:solidFill>
                      <a:srgbClr val="445469"/>
                    </a:solidFill>
                    <a:latin typeface="Arimo Bold"/>
                    <a:ea typeface="Arimo Bold"/>
                    <a:cs typeface="Arimo Bold"/>
                    <a:sym typeface="Arimo Bold"/>
                  </a:endParaRPr>
                </a:p>
              </p:txBody>
            </p:sp>
            <p:sp>
              <p:nvSpPr>
                <p:cNvPr id="42" name="TextBox 42"/>
                <p:cNvSpPr txBox="1"/>
                <p:nvPr/>
              </p:nvSpPr>
              <p:spPr>
                <a:xfrm>
                  <a:off x="10797249" y="3903906"/>
                  <a:ext cx="3648385" cy="1709869"/>
                </a:xfrm>
                <a:prstGeom prst="rect">
                  <a:avLst/>
                </a:prstGeom>
              </p:spPr>
              <p:txBody>
                <a:bodyPr lIns="0" tIns="0" rIns="0" bIns="0" rtlCol="0" anchor="t">
                  <a:spAutoFit/>
                </a:bodyPr>
                <a:lstStyle/>
                <a:p>
                  <a:pPr algn="l">
                    <a:lnSpc>
                      <a:spcPts val="2519"/>
                    </a:lnSpc>
                  </a:pPr>
                  <a:r>
                    <a:rPr lang="en-US" sz="2099" dirty="0" err="1">
                      <a:solidFill>
                        <a:srgbClr val="445469"/>
                      </a:solidFill>
                      <a:latin typeface="Arimo"/>
                      <a:ea typeface="Arimo"/>
                      <a:cs typeface="Arimo"/>
                      <a:sym typeface="Arimo"/>
                    </a:rPr>
                    <a:t>以英國雨胞辨識技術</a:t>
                  </a:r>
                  <a:r>
                    <a:rPr lang="en-US" sz="2099" dirty="0">
                      <a:solidFill>
                        <a:srgbClr val="445469"/>
                      </a:solidFill>
                      <a:latin typeface="Arimo"/>
                      <a:ea typeface="Arimo"/>
                      <a:cs typeface="Arimo"/>
                      <a:sym typeface="Arimo"/>
                    </a:rPr>
                    <a:t>，</a:t>
                  </a:r>
                  <a:r>
                    <a:rPr lang="zh-TW" altLang="en-US" sz="2099" dirty="0">
                      <a:solidFill>
                        <a:srgbClr val="445469"/>
                      </a:solidFill>
                      <a:latin typeface="Arimo"/>
                      <a:ea typeface="Arimo"/>
                      <a:cs typeface="Arimo"/>
                      <a:sym typeface="Arimo"/>
                    </a:rPr>
                    <a:t>調整</a:t>
                  </a:r>
                  <a:r>
                    <a:rPr lang="en-US" sz="2099" dirty="0" err="1">
                      <a:solidFill>
                        <a:srgbClr val="445469"/>
                      </a:solidFill>
                      <a:latin typeface="Arimo"/>
                      <a:ea typeface="Arimo"/>
                      <a:cs typeface="Arimo"/>
                      <a:sym typeface="Arimo"/>
                    </a:rPr>
                    <a:t>參數以符合臺灣的地理條件，並</a:t>
                  </a:r>
                  <a:r>
                    <a:rPr lang="zh-TW" altLang="en-US" sz="2099" dirty="0">
                      <a:solidFill>
                        <a:srgbClr val="445469"/>
                      </a:solidFill>
                      <a:latin typeface="Arimo"/>
                      <a:ea typeface="Arimo"/>
                      <a:cs typeface="Arimo"/>
                      <a:sym typeface="Arimo"/>
                    </a:rPr>
                    <a:t>追蹤各</a:t>
                  </a:r>
                  <a:r>
                    <a:rPr lang="en-US" sz="2099" dirty="0" err="1">
                      <a:solidFill>
                        <a:srgbClr val="445469"/>
                      </a:solidFill>
                      <a:latin typeface="Arimo"/>
                      <a:ea typeface="Arimo"/>
                      <a:cs typeface="Arimo"/>
                      <a:sym typeface="Arimo"/>
                    </a:rPr>
                    <a:t>事件的雨胞</a:t>
                  </a:r>
                  <a:r>
                    <a:rPr lang="en-US" sz="2099" dirty="0">
                      <a:solidFill>
                        <a:srgbClr val="445469"/>
                      </a:solidFill>
                      <a:latin typeface="Arimo"/>
                      <a:ea typeface="Arimo"/>
                      <a:cs typeface="Arimo"/>
                      <a:sym typeface="Arimo"/>
                    </a:rPr>
                    <a:t>。</a:t>
                  </a:r>
                </a:p>
              </p:txBody>
            </p:sp>
            <p:grpSp>
              <p:nvGrpSpPr>
                <p:cNvPr id="43" name="Group 43"/>
                <p:cNvGrpSpPr/>
                <p:nvPr/>
              </p:nvGrpSpPr>
              <p:grpSpPr>
                <a:xfrm>
                  <a:off x="15656284" y="10957"/>
                  <a:ext cx="3580018" cy="3130709"/>
                  <a:chOff x="0" y="-1"/>
                  <a:chExt cx="2766567" cy="2419350"/>
                </a:xfrm>
              </p:grpSpPr>
              <p:sp>
                <p:nvSpPr>
                  <p:cNvPr id="44" name="Freeform 44"/>
                  <p:cNvSpPr/>
                  <p:nvPr/>
                </p:nvSpPr>
                <p:spPr>
                  <a:xfrm>
                    <a:off x="0" y="-1"/>
                    <a:ext cx="2766567" cy="2419350"/>
                  </a:xfrm>
                  <a:custGeom>
                    <a:avLst/>
                    <a:gdLst/>
                    <a:ahLst/>
                    <a:cxnLst/>
                    <a:rect l="l" t="t" r="r" b="b"/>
                    <a:pathLst>
                      <a:path w="2766568" h="2419350">
                        <a:moveTo>
                          <a:pt x="0" y="362966"/>
                        </a:moveTo>
                        <a:lnTo>
                          <a:pt x="1557401" y="362966"/>
                        </a:lnTo>
                        <a:lnTo>
                          <a:pt x="1557401" y="0"/>
                        </a:lnTo>
                        <a:lnTo>
                          <a:pt x="2766568" y="1209675"/>
                        </a:lnTo>
                        <a:lnTo>
                          <a:pt x="1557401" y="2419350"/>
                        </a:lnTo>
                        <a:lnTo>
                          <a:pt x="1557401" y="2056384"/>
                        </a:lnTo>
                        <a:lnTo>
                          <a:pt x="0" y="2056384"/>
                        </a:lnTo>
                        <a:lnTo>
                          <a:pt x="0" y="362966"/>
                        </a:lnTo>
                        <a:close/>
                      </a:path>
                    </a:pathLst>
                  </a:custGeom>
                  <a:solidFill>
                    <a:srgbClr val="4472C4"/>
                  </a:solidFill>
                </p:spPr>
                <p:txBody>
                  <a:bodyPr/>
                  <a:lstStyle/>
                  <a:p>
                    <a:endParaRPr lang="zh-TW" altLang="en-US"/>
                  </a:p>
                </p:txBody>
              </p:sp>
            </p:grpSp>
            <p:grpSp>
              <p:nvGrpSpPr>
                <p:cNvPr id="45" name="Group 45"/>
                <p:cNvGrpSpPr/>
                <p:nvPr/>
              </p:nvGrpSpPr>
              <p:grpSpPr>
                <a:xfrm>
                  <a:off x="14768839" y="687498"/>
                  <a:ext cx="1772260" cy="1774890"/>
                  <a:chOff x="0" y="0"/>
                  <a:chExt cx="1369567" cy="1371600"/>
                </a:xfrm>
              </p:grpSpPr>
              <p:sp>
                <p:nvSpPr>
                  <p:cNvPr id="46" name="Freeform 46"/>
                  <p:cNvSpPr/>
                  <p:nvPr/>
                </p:nvSpPr>
                <p:spPr>
                  <a:xfrm>
                    <a:off x="0" y="0"/>
                    <a:ext cx="1369567" cy="1371600"/>
                  </a:xfrm>
                  <a:custGeom>
                    <a:avLst/>
                    <a:gdLst/>
                    <a:ahLst/>
                    <a:cxnLst/>
                    <a:rect l="l" t="t" r="r" b="b"/>
                    <a:pathLst>
                      <a:path w="1369568" h="1371600">
                        <a:moveTo>
                          <a:pt x="0" y="685800"/>
                        </a:moveTo>
                        <a:cubicBezTo>
                          <a:pt x="0" y="307086"/>
                          <a:pt x="306578" y="0"/>
                          <a:pt x="684784" y="0"/>
                        </a:cubicBezTo>
                        <a:cubicBezTo>
                          <a:pt x="1062990" y="0"/>
                          <a:pt x="1369568" y="307086"/>
                          <a:pt x="1369568" y="685800"/>
                        </a:cubicBezTo>
                        <a:cubicBezTo>
                          <a:pt x="1369568" y="1064514"/>
                          <a:pt x="1062990" y="1371600"/>
                          <a:pt x="684784" y="1371600"/>
                        </a:cubicBezTo>
                        <a:cubicBezTo>
                          <a:pt x="306578" y="1371600"/>
                          <a:pt x="0" y="1064514"/>
                          <a:pt x="0" y="685800"/>
                        </a:cubicBezTo>
                        <a:close/>
                      </a:path>
                    </a:pathLst>
                  </a:custGeom>
                  <a:solidFill>
                    <a:srgbClr val="44546A"/>
                  </a:solidFill>
                </p:spPr>
                <p:txBody>
                  <a:bodyPr/>
                  <a:lstStyle/>
                  <a:p>
                    <a:endParaRPr lang="zh-TW" altLang="en-US"/>
                  </a:p>
                </p:txBody>
              </p:sp>
            </p:grpSp>
            <p:grpSp>
              <p:nvGrpSpPr>
                <p:cNvPr id="47" name="Group 47"/>
                <p:cNvGrpSpPr/>
                <p:nvPr/>
              </p:nvGrpSpPr>
              <p:grpSpPr>
                <a:xfrm>
                  <a:off x="14974265" y="883401"/>
                  <a:ext cx="1364036" cy="1376343"/>
                  <a:chOff x="0" y="-9525"/>
                  <a:chExt cx="1364036" cy="1376343"/>
                </a:xfrm>
              </p:grpSpPr>
              <p:sp>
                <p:nvSpPr>
                  <p:cNvPr id="48" name="Freeform 48"/>
                  <p:cNvSpPr/>
                  <p:nvPr/>
                </p:nvSpPr>
                <p:spPr>
                  <a:xfrm>
                    <a:off x="0" y="-1"/>
                    <a:ext cx="1364036" cy="1366819"/>
                  </a:xfrm>
                  <a:custGeom>
                    <a:avLst/>
                    <a:gdLst/>
                    <a:ahLst/>
                    <a:cxnLst/>
                    <a:rect l="l" t="t" r="r" b="b"/>
                    <a:pathLst>
                      <a:path w="1364036" h="1366817">
                        <a:moveTo>
                          <a:pt x="0" y="683333"/>
                        </a:moveTo>
                        <a:cubicBezTo>
                          <a:pt x="0" y="306004"/>
                          <a:pt x="305347" y="0"/>
                          <a:pt x="682018" y="0"/>
                        </a:cubicBezTo>
                        <a:cubicBezTo>
                          <a:pt x="1058689" y="0"/>
                          <a:pt x="1364036" y="306004"/>
                          <a:pt x="1364036" y="683333"/>
                        </a:cubicBezTo>
                        <a:cubicBezTo>
                          <a:pt x="1364036" y="1060661"/>
                          <a:pt x="1058689" y="1366817"/>
                          <a:pt x="682018" y="1366817"/>
                        </a:cubicBezTo>
                        <a:cubicBezTo>
                          <a:pt x="305347" y="1366817"/>
                          <a:pt x="0" y="1060826"/>
                          <a:pt x="0" y="683333"/>
                        </a:cubicBezTo>
                        <a:close/>
                      </a:path>
                    </a:pathLst>
                  </a:custGeom>
                  <a:solidFill>
                    <a:srgbClr val="FFFFFF"/>
                  </a:solidFill>
                </p:spPr>
                <p:txBody>
                  <a:bodyPr/>
                  <a:lstStyle/>
                  <a:p>
                    <a:endParaRPr lang="zh-TW" altLang="en-US"/>
                  </a:p>
                </p:txBody>
              </p:sp>
              <p:sp>
                <p:nvSpPr>
                  <p:cNvPr id="49" name="TextBox 49"/>
                  <p:cNvSpPr txBox="1"/>
                  <p:nvPr/>
                </p:nvSpPr>
                <p:spPr>
                  <a:xfrm>
                    <a:off x="0" y="-9525"/>
                    <a:ext cx="1364036" cy="1376299"/>
                  </a:xfrm>
                  <a:prstGeom prst="rect">
                    <a:avLst/>
                  </a:prstGeom>
                </p:spPr>
                <p:txBody>
                  <a:bodyPr lIns="50800" tIns="50800" rIns="50800" bIns="50800" rtlCol="0" anchor="ctr"/>
                  <a:lstStyle/>
                  <a:p>
                    <a:pPr algn="ctr">
                      <a:lnSpc>
                        <a:spcPts val="2879"/>
                      </a:lnSpc>
                    </a:pPr>
                    <a:r>
                      <a:rPr lang="en-US" sz="2400" dirty="0">
                        <a:solidFill>
                          <a:srgbClr val="44546A"/>
                        </a:solidFill>
                        <a:latin typeface="Arimo Bold"/>
                        <a:ea typeface="Arimo Bold"/>
                        <a:cs typeface="Arimo Bold"/>
                        <a:sym typeface="Arimo Bold"/>
                      </a:rPr>
                      <a:t>04</a:t>
                    </a:r>
                  </a:p>
                </p:txBody>
              </p:sp>
            </p:grpSp>
            <p:sp>
              <p:nvSpPr>
                <p:cNvPr id="50" name="TextBox 50"/>
                <p:cNvSpPr txBox="1"/>
                <p:nvPr/>
              </p:nvSpPr>
              <p:spPr>
                <a:xfrm>
                  <a:off x="15587807" y="3396577"/>
                  <a:ext cx="3966113" cy="528509"/>
                </a:xfrm>
                <a:prstGeom prst="rect">
                  <a:avLst/>
                </a:prstGeom>
              </p:spPr>
              <p:txBody>
                <a:bodyPr lIns="0" tIns="0" rIns="0" bIns="0" rtlCol="0" anchor="t">
                  <a:spAutoFit/>
                </a:bodyPr>
                <a:lstStyle/>
                <a:p>
                  <a:pPr algn="l">
                    <a:lnSpc>
                      <a:spcPts val="3105"/>
                    </a:lnSpc>
                  </a:pPr>
                  <a:r>
                    <a:rPr lang="zh-TW" altLang="en-US" sz="2588" dirty="0">
                      <a:solidFill>
                        <a:srgbClr val="445469"/>
                      </a:solidFill>
                      <a:latin typeface="Arimo Bold"/>
                      <a:ea typeface="Arimo Bold"/>
                      <a:cs typeface="Arimo Bold"/>
                      <a:sym typeface="Arimo Bold"/>
                    </a:rPr>
                    <a:t>繪製</a:t>
                  </a:r>
                  <a:r>
                    <a:rPr lang="en-US" sz="2588" dirty="0" err="1">
                      <a:solidFill>
                        <a:srgbClr val="445469"/>
                      </a:solidFill>
                      <a:latin typeface="Arimo Bold"/>
                      <a:ea typeface="Arimo Bold"/>
                      <a:cs typeface="Arimo Bold"/>
                      <a:sym typeface="Arimo Bold"/>
                    </a:rPr>
                    <a:t>雨胞</a:t>
                  </a:r>
                  <a:endParaRPr lang="en-US" sz="2588" dirty="0">
                    <a:solidFill>
                      <a:srgbClr val="445469"/>
                    </a:solidFill>
                    <a:latin typeface="Arimo Bold"/>
                    <a:ea typeface="Arimo Bold"/>
                    <a:cs typeface="Arimo Bold"/>
                    <a:sym typeface="Arimo Bold"/>
                  </a:endParaRPr>
                </a:p>
              </p:txBody>
            </p:sp>
            <p:sp>
              <p:nvSpPr>
                <p:cNvPr id="51" name="TextBox 51"/>
                <p:cNvSpPr txBox="1"/>
                <p:nvPr/>
              </p:nvSpPr>
              <p:spPr>
                <a:xfrm>
                  <a:off x="15587807" y="3903906"/>
                  <a:ext cx="3648387" cy="1276352"/>
                </a:xfrm>
                <a:prstGeom prst="rect">
                  <a:avLst/>
                </a:prstGeom>
              </p:spPr>
              <p:txBody>
                <a:bodyPr lIns="0" tIns="0" rIns="0" bIns="0" rtlCol="0" anchor="t">
                  <a:spAutoFit/>
                </a:bodyPr>
                <a:lstStyle/>
                <a:p>
                  <a:pPr algn="l">
                    <a:lnSpc>
                      <a:spcPts val="2519"/>
                    </a:lnSpc>
                  </a:pPr>
                  <a:r>
                    <a:rPr lang="en-US" sz="2099" dirty="0" err="1">
                      <a:solidFill>
                        <a:srgbClr val="445469"/>
                      </a:solidFill>
                      <a:latin typeface="Arimo"/>
                      <a:ea typeface="Arimo"/>
                      <a:cs typeface="Arimo"/>
                      <a:sym typeface="Arimo"/>
                    </a:rPr>
                    <a:t>根據雨胞的經緯度資訊，將各雨胞投影在臺灣地圖上以利視覺化</a:t>
                  </a:r>
                  <a:r>
                    <a:rPr lang="en-US" sz="2099" dirty="0">
                      <a:solidFill>
                        <a:srgbClr val="445469"/>
                      </a:solidFill>
                      <a:latin typeface="Arimo"/>
                      <a:ea typeface="Arimo"/>
                      <a:cs typeface="Arimo"/>
                      <a:sym typeface="Arimo"/>
                    </a:rPr>
                    <a:t>。</a:t>
                  </a:r>
                </a:p>
              </p:txBody>
            </p:sp>
            <p:sp>
              <p:nvSpPr>
                <p:cNvPr id="52" name="TextBox 52"/>
                <p:cNvSpPr txBox="1"/>
                <p:nvPr/>
              </p:nvSpPr>
              <p:spPr>
                <a:xfrm>
                  <a:off x="6747476" y="1278967"/>
                  <a:ext cx="2006486" cy="539750"/>
                </a:xfrm>
                <a:prstGeom prst="rect">
                  <a:avLst/>
                </a:prstGeom>
              </p:spPr>
              <p:txBody>
                <a:bodyPr lIns="0" tIns="0" rIns="0" bIns="0" rtlCol="0" anchor="t">
                  <a:spAutoFit/>
                </a:bodyPr>
                <a:lstStyle/>
                <a:p>
                  <a:pPr algn="l">
                    <a:lnSpc>
                      <a:spcPts val="3119"/>
                    </a:lnSpc>
                  </a:pPr>
                  <a:r>
                    <a:rPr lang="en-US" sz="2599">
                      <a:solidFill>
                        <a:srgbClr val="FFFFFF"/>
                      </a:solidFill>
                      <a:latin typeface="Arimo"/>
                      <a:ea typeface="Arimo"/>
                      <a:cs typeface="Arimo"/>
                      <a:sym typeface="Arimo"/>
                    </a:rPr>
                    <a:t>篩選事件</a:t>
                  </a:r>
                </a:p>
              </p:txBody>
            </p:sp>
            <p:sp>
              <p:nvSpPr>
                <p:cNvPr id="53" name="TextBox 53"/>
                <p:cNvSpPr txBox="1"/>
                <p:nvPr/>
              </p:nvSpPr>
              <p:spPr>
                <a:xfrm>
                  <a:off x="11743463" y="1278967"/>
                  <a:ext cx="2006487" cy="539750"/>
                </a:xfrm>
                <a:prstGeom prst="rect">
                  <a:avLst/>
                </a:prstGeom>
              </p:spPr>
              <p:txBody>
                <a:bodyPr lIns="0" tIns="0" rIns="0" bIns="0" rtlCol="0" anchor="t">
                  <a:spAutoFit/>
                </a:bodyPr>
                <a:lstStyle/>
                <a:p>
                  <a:pPr algn="l">
                    <a:lnSpc>
                      <a:spcPts val="3119"/>
                    </a:lnSpc>
                  </a:pPr>
                  <a:r>
                    <a:rPr lang="en-US" sz="2599">
                      <a:solidFill>
                        <a:srgbClr val="FFFFFF"/>
                      </a:solidFill>
                      <a:latin typeface="Arimo Bold"/>
                      <a:ea typeface="Arimo Bold"/>
                      <a:cs typeface="Arimo Bold"/>
                      <a:sym typeface="Arimo Bold"/>
                    </a:rPr>
                    <a:t>雨胞辨識</a:t>
                  </a:r>
                </a:p>
              </p:txBody>
            </p:sp>
            <p:sp>
              <p:nvSpPr>
                <p:cNvPr id="54" name="TextBox 54"/>
                <p:cNvSpPr txBox="1"/>
                <p:nvPr/>
              </p:nvSpPr>
              <p:spPr>
                <a:xfrm>
                  <a:off x="16629891" y="1296912"/>
                  <a:ext cx="2006487" cy="539750"/>
                </a:xfrm>
                <a:prstGeom prst="rect">
                  <a:avLst/>
                </a:prstGeom>
              </p:spPr>
              <p:txBody>
                <a:bodyPr lIns="0" tIns="0" rIns="0" bIns="0" rtlCol="0" anchor="t">
                  <a:spAutoFit/>
                </a:bodyPr>
                <a:lstStyle/>
                <a:p>
                  <a:pPr algn="l">
                    <a:lnSpc>
                      <a:spcPts val="3119"/>
                    </a:lnSpc>
                  </a:pPr>
                  <a:r>
                    <a:rPr lang="en-US" sz="2599">
                      <a:solidFill>
                        <a:srgbClr val="FFFFFF"/>
                      </a:solidFill>
                      <a:latin typeface="Arimo Bold"/>
                      <a:ea typeface="Arimo Bold"/>
                      <a:cs typeface="Arimo Bold"/>
                      <a:sym typeface="Arimo Bold"/>
                    </a:rPr>
                    <a:t>投影座標</a:t>
                  </a:r>
                </a:p>
              </p:txBody>
            </p:sp>
          </p:grpSp>
        </p:grpSp>
        <p:grpSp>
          <p:nvGrpSpPr>
            <p:cNvPr id="11" name="Group 11"/>
            <p:cNvGrpSpPr/>
            <p:nvPr/>
          </p:nvGrpSpPr>
          <p:grpSpPr>
            <a:xfrm>
              <a:off x="5571640" y="8756006"/>
              <a:ext cx="3480121" cy="799529"/>
              <a:chOff x="0" y="-19050"/>
              <a:chExt cx="4640161" cy="1066038"/>
            </a:xfrm>
          </p:grpSpPr>
          <p:sp>
            <p:nvSpPr>
              <p:cNvPr id="12" name="Freeform 12"/>
              <p:cNvSpPr/>
              <p:nvPr/>
            </p:nvSpPr>
            <p:spPr>
              <a:xfrm>
                <a:off x="4191" y="4190"/>
                <a:ext cx="4631690" cy="1038479"/>
              </a:xfrm>
              <a:custGeom>
                <a:avLst/>
                <a:gdLst/>
                <a:ahLst/>
                <a:cxnLst/>
                <a:rect l="l" t="t" r="r" b="b"/>
                <a:pathLst>
                  <a:path w="4631690" h="1038479">
                    <a:moveTo>
                      <a:pt x="0" y="0"/>
                    </a:moveTo>
                    <a:lnTo>
                      <a:pt x="4212082" y="0"/>
                    </a:lnTo>
                    <a:lnTo>
                      <a:pt x="4631690" y="416941"/>
                    </a:lnTo>
                    <a:lnTo>
                      <a:pt x="4631690" y="1038479"/>
                    </a:lnTo>
                    <a:lnTo>
                      <a:pt x="419608" y="1038479"/>
                    </a:lnTo>
                    <a:lnTo>
                      <a:pt x="0" y="621538"/>
                    </a:lnTo>
                    <a:lnTo>
                      <a:pt x="0" y="0"/>
                    </a:lnTo>
                    <a:close/>
                  </a:path>
                </a:pathLst>
              </a:custGeom>
              <a:solidFill>
                <a:srgbClr val="333F50"/>
              </a:solidFill>
            </p:spPr>
            <p:txBody>
              <a:bodyPr/>
              <a:lstStyle/>
              <a:p>
                <a:endParaRPr lang="zh-TW" altLang="en-US"/>
              </a:p>
            </p:txBody>
          </p:sp>
          <p:sp>
            <p:nvSpPr>
              <p:cNvPr id="13" name="Freeform 13"/>
              <p:cNvSpPr/>
              <p:nvPr/>
            </p:nvSpPr>
            <p:spPr>
              <a:xfrm>
                <a:off x="0" y="0"/>
                <a:ext cx="4640072" cy="1046988"/>
              </a:xfrm>
              <a:custGeom>
                <a:avLst/>
                <a:gdLst/>
                <a:ahLst/>
                <a:cxnLst/>
                <a:rect l="l" t="t" r="r" b="b"/>
                <a:pathLst>
                  <a:path w="4640072" h="1046988">
                    <a:moveTo>
                      <a:pt x="4191" y="0"/>
                    </a:moveTo>
                    <a:lnTo>
                      <a:pt x="4216273" y="0"/>
                    </a:lnTo>
                    <a:cubicBezTo>
                      <a:pt x="4217416" y="0"/>
                      <a:pt x="4218432" y="381"/>
                      <a:pt x="4219194" y="1270"/>
                    </a:cubicBezTo>
                    <a:lnTo>
                      <a:pt x="4638802" y="418211"/>
                    </a:lnTo>
                    <a:cubicBezTo>
                      <a:pt x="4639564" y="418973"/>
                      <a:pt x="4640072" y="420116"/>
                      <a:pt x="4640072" y="421259"/>
                    </a:cubicBezTo>
                    <a:lnTo>
                      <a:pt x="4640072" y="1042670"/>
                    </a:lnTo>
                    <a:lnTo>
                      <a:pt x="4635881" y="1042670"/>
                    </a:lnTo>
                    <a:lnTo>
                      <a:pt x="4635881" y="1038479"/>
                    </a:lnTo>
                    <a:lnTo>
                      <a:pt x="4635881" y="1042670"/>
                    </a:lnTo>
                    <a:lnTo>
                      <a:pt x="4635881" y="1046861"/>
                    </a:lnTo>
                    <a:lnTo>
                      <a:pt x="423799" y="1046861"/>
                    </a:lnTo>
                    <a:cubicBezTo>
                      <a:pt x="422656" y="1046861"/>
                      <a:pt x="421640" y="1046480"/>
                      <a:pt x="420878" y="1045591"/>
                    </a:cubicBezTo>
                    <a:lnTo>
                      <a:pt x="1270" y="628777"/>
                    </a:lnTo>
                    <a:cubicBezTo>
                      <a:pt x="508" y="628015"/>
                      <a:pt x="0" y="626872"/>
                      <a:pt x="0" y="625729"/>
                    </a:cubicBezTo>
                    <a:lnTo>
                      <a:pt x="0" y="4191"/>
                    </a:lnTo>
                    <a:cubicBezTo>
                      <a:pt x="0" y="1905"/>
                      <a:pt x="1905" y="0"/>
                      <a:pt x="4191" y="0"/>
                    </a:cubicBezTo>
                    <a:moveTo>
                      <a:pt x="4191" y="8509"/>
                    </a:moveTo>
                    <a:lnTo>
                      <a:pt x="4191" y="4191"/>
                    </a:lnTo>
                    <a:lnTo>
                      <a:pt x="8509" y="4191"/>
                    </a:lnTo>
                    <a:lnTo>
                      <a:pt x="8509" y="625729"/>
                    </a:lnTo>
                    <a:lnTo>
                      <a:pt x="4191" y="625729"/>
                    </a:lnTo>
                    <a:lnTo>
                      <a:pt x="7112" y="622681"/>
                    </a:lnTo>
                    <a:lnTo>
                      <a:pt x="426847" y="1039749"/>
                    </a:lnTo>
                    <a:lnTo>
                      <a:pt x="423926" y="1042797"/>
                    </a:lnTo>
                    <a:lnTo>
                      <a:pt x="423926" y="1038606"/>
                    </a:lnTo>
                    <a:lnTo>
                      <a:pt x="4635881" y="1038606"/>
                    </a:lnTo>
                    <a:cubicBezTo>
                      <a:pt x="4638167" y="1038606"/>
                      <a:pt x="4640072" y="1040511"/>
                      <a:pt x="4640072" y="1042797"/>
                    </a:cubicBezTo>
                    <a:cubicBezTo>
                      <a:pt x="4640072" y="1045083"/>
                      <a:pt x="4638167" y="1046988"/>
                      <a:pt x="4635881" y="1046988"/>
                    </a:cubicBezTo>
                    <a:cubicBezTo>
                      <a:pt x="4633595" y="1046988"/>
                      <a:pt x="4631690" y="1045083"/>
                      <a:pt x="4631690" y="1042797"/>
                    </a:cubicBezTo>
                    <a:lnTo>
                      <a:pt x="4631690" y="421259"/>
                    </a:lnTo>
                    <a:lnTo>
                      <a:pt x="4635881" y="421259"/>
                    </a:lnTo>
                    <a:lnTo>
                      <a:pt x="4632960" y="424307"/>
                    </a:lnTo>
                    <a:lnTo>
                      <a:pt x="4213352" y="7239"/>
                    </a:lnTo>
                    <a:lnTo>
                      <a:pt x="4216273" y="4191"/>
                    </a:lnTo>
                    <a:lnTo>
                      <a:pt x="4216273" y="8509"/>
                    </a:lnTo>
                    <a:lnTo>
                      <a:pt x="4191" y="8509"/>
                    </a:lnTo>
                    <a:close/>
                  </a:path>
                </a:pathLst>
              </a:custGeom>
              <a:solidFill>
                <a:srgbClr val="FFFFFF"/>
              </a:solidFill>
            </p:spPr>
            <p:txBody>
              <a:bodyPr/>
              <a:lstStyle/>
              <a:p>
                <a:endParaRPr lang="zh-TW" altLang="en-US"/>
              </a:p>
            </p:txBody>
          </p:sp>
          <p:sp>
            <p:nvSpPr>
              <p:cNvPr id="14" name="TextBox 14"/>
              <p:cNvSpPr txBox="1"/>
              <p:nvPr/>
            </p:nvSpPr>
            <p:spPr>
              <a:xfrm>
                <a:off x="0" y="-19050"/>
                <a:ext cx="4640161" cy="1065983"/>
              </a:xfrm>
              <a:prstGeom prst="rect">
                <a:avLst/>
              </a:prstGeom>
            </p:spPr>
            <p:txBody>
              <a:bodyPr lIns="50800" tIns="50800" rIns="50800" bIns="50800" rtlCol="0" anchor="ctr"/>
              <a:lstStyle/>
              <a:p>
                <a:pPr algn="ctr">
                  <a:lnSpc>
                    <a:spcPts val="5759"/>
                  </a:lnSpc>
                </a:pPr>
                <a:r>
                  <a:rPr lang="en-US" sz="4800" dirty="0" err="1">
                    <a:solidFill>
                      <a:srgbClr val="FFFFFF"/>
                    </a:solidFill>
                    <a:latin typeface="Arimo Bold"/>
                    <a:ea typeface="Arimo Bold"/>
                    <a:cs typeface="Arimo Bold"/>
                    <a:sym typeface="Arimo Bold"/>
                  </a:rPr>
                  <a:t>研究流程</a:t>
                </a:r>
                <a:endParaRPr lang="en-US" sz="4800" dirty="0">
                  <a:solidFill>
                    <a:srgbClr val="FFFFFF"/>
                  </a:solidFill>
                  <a:latin typeface="Arimo Bold"/>
                  <a:ea typeface="Arimo Bold"/>
                  <a:cs typeface="Arimo Bold"/>
                  <a:sym typeface="Arimo Bold"/>
                </a:endParaRPr>
              </a:p>
            </p:txBody>
          </p:sp>
        </p:grpSp>
      </p:grpSp>
      <p:grpSp>
        <p:nvGrpSpPr>
          <p:cNvPr id="192" name="群組 191">
            <a:extLst>
              <a:ext uri="{FF2B5EF4-FFF2-40B4-BE49-F238E27FC236}">
                <a16:creationId xmlns:a16="http://schemas.microsoft.com/office/drawing/2014/main" id="{F5E86D91-12AB-A8D0-4DB1-DCB2C9DE0896}"/>
              </a:ext>
            </a:extLst>
          </p:cNvPr>
          <p:cNvGrpSpPr/>
          <p:nvPr/>
        </p:nvGrpSpPr>
        <p:grpSpPr>
          <a:xfrm>
            <a:off x="751497" y="19847306"/>
            <a:ext cx="20267122" cy="7992098"/>
            <a:chOff x="553489" y="21601105"/>
            <a:chExt cx="20267121" cy="7992098"/>
          </a:xfrm>
        </p:grpSpPr>
        <p:grpSp>
          <p:nvGrpSpPr>
            <p:cNvPr id="108" name="群組 107">
              <a:extLst>
                <a:ext uri="{FF2B5EF4-FFF2-40B4-BE49-F238E27FC236}">
                  <a16:creationId xmlns:a16="http://schemas.microsoft.com/office/drawing/2014/main" id="{6B73E147-765D-768A-FF7F-A425CEBB992D}"/>
                </a:ext>
              </a:extLst>
            </p:cNvPr>
            <p:cNvGrpSpPr/>
            <p:nvPr/>
          </p:nvGrpSpPr>
          <p:grpSpPr>
            <a:xfrm>
              <a:off x="553489" y="22386943"/>
              <a:ext cx="20267121" cy="7206260"/>
              <a:chOff x="906918" y="16192502"/>
              <a:chExt cx="19903488" cy="6781798"/>
            </a:xfrm>
          </p:grpSpPr>
          <p:sp>
            <p:nvSpPr>
              <p:cNvPr id="59" name="Freeform 59"/>
              <p:cNvSpPr/>
              <p:nvPr/>
            </p:nvSpPr>
            <p:spPr>
              <a:xfrm>
                <a:off x="906918" y="16192502"/>
                <a:ext cx="19903488" cy="6781798"/>
              </a:xfrm>
              <a:custGeom>
                <a:avLst/>
                <a:gdLst/>
                <a:ahLst/>
                <a:cxnLst/>
                <a:rect l="l" t="t" r="r" b="b"/>
                <a:pathLst>
                  <a:path w="20246713" h="14138979">
                    <a:moveTo>
                      <a:pt x="0" y="0"/>
                    </a:moveTo>
                    <a:lnTo>
                      <a:pt x="20246713" y="0"/>
                    </a:lnTo>
                    <a:lnTo>
                      <a:pt x="20246713" y="14138979"/>
                    </a:lnTo>
                    <a:lnTo>
                      <a:pt x="0" y="14138979"/>
                    </a:lnTo>
                    <a:lnTo>
                      <a:pt x="0" y="0"/>
                    </a:lnTo>
                    <a:close/>
                  </a:path>
                </a:pathLst>
              </a:custGeom>
              <a:blipFill>
                <a:blip r:embed="rId2"/>
                <a:stretch>
                  <a:fillRect t="-1849" b="-1849"/>
                </a:stretch>
              </a:blipFill>
            </p:spPr>
            <p:txBody>
              <a:bodyPr/>
              <a:lstStyle/>
              <a:p>
                <a:endParaRPr lang="zh-TW" altLang="en-US" dirty="0"/>
              </a:p>
            </p:txBody>
          </p:sp>
          <p:grpSp>
            <p:nvGrpSpPr>
              <p:cNvPr id="99" name="群組 98">
                <a:extLst>
                  <a:ext uri="{FF2B5EF4-FFF2-40B4-BE49-F238E27FC236}">
                    <a16:creationId xmlns:a16="http://schemas.microsoft.com/office/drawing/2014/main" id="{6AABF053-A9E5-A3B1-29BB-674F4BB18B38}"/>
                  </a:ext>
                </a:extLst>
              </p:cNvPr>
              <p:cNvGrpSpPr/>
              <p:nvPr/>
            </p:nvGrpSpPr>
            <p:grpSpPr>
              <a:xfrm>
                <a:off x="1978130" y="18116895"/>
                <a:ext cx="17874814" cy="4403666"/>
                <a:chOff x="1727636" y="16582240"/>
                <a:chExt cx="20559586" cy="5104144"/>
              </a:xfrm>
            </p:grpSpPr>
            <p:grpSp>
              <p:nvGrpSpPr>
                <p:cNvPr id="83" name="群組 82">
                  <a:extLst>
                    <a:ext uri="{FF2B5EF4-FFF2-40B4-BE49-F238E27FC236}">
                      <a16:creationId xmlns:a16="http://schemas.microsoft.com/office/drawing/2014/main" id="{DF1264A7-1420-C730-B055-C3251B2AF661}"/>
                    </a:ext>
                  </a:extLst>
                </p:cNvPr>
                <p:cNvGrpSpPr/>
                <p:nvPr/>
              </p:nvGrpSpPr>
              <p:grpSpPr>
                <a:xfrm>
                  <a:off x="1727636" y="16582240"/>
                  <a:ext cx="10299144" cy="5096663"/>
                  <a:chOff x="1727636" y="16561420"/>
                  <a:chExt cx="8943111" cy="4438213"/>
                </a:xfrm>
              </p:grpSpPr>
              <p:sp>
                <p:nvSpPr>
                  <p:cNvPr id="60" name="Freeform 60"/>
                  <p:cNvSpPr/>
                  <p:nvPr/>
                </p:nvSpPr>
                <p:spPr>
                  <a:xfrm>
                    <a:off x="1727636" y="16561421"/>
                    <a:ext cx="3701614" cy="4438212"/>
                  </a:xfrm>
                  <a:custGeom>
                    <a:avLst/>
                    <a:gdLst/>
                    <a:ahLst/>
                    <a:cxnLst/>
                    <a:rect l="l" t="t" r="r" b="b"/>
                    <a:pathLst>
                      <a:path w="3284081" h="4133412">
                        <a:moveTo>
                          <a:pt x="0" y="0"/>
                        </a:moveTo>
                        <a:lnTo>
                          <a:pt x="3284081" y="0"/>
                        </a:lnTo>
                        <a:lnTo>
                          <a:pt x="3284081" y="4133412"/>
                        </a:lnTo>
                        <a:lnTo>
                          <a:pt x="0" y="4133412"/>
                        </a:lnTo>
                        <a:lnTo>
                          <a:pt x="0" y="0"/>
                        </a:lnTo>
                        <a:close/>
                      </a:path>
                    </a:pathLst>
                  </a:custGeom>
                  <a:blipFill>
                    <a:blip r:embed="rId8"/>
                    <a:stretch>
                      <a:fillRect/>
                    </a:stretch>
                  </a:blipFill>
                  <a:scene3d>
                    <a:camera prst="orthographicFront"/>
                    <a:lightRig rig="threePt" dir="t"/>
                  </a:scene3d>
                  <a:sp3d contourW="38100"/>
                </p:spPr>
                <p:txBody>
                  <a:bodyPr/>
                  <a:lstStyle/>
                  <a:p>
                    <a:endParaRPr lang="zh-TW" altLang="en-US" dirty="0"/>
                  </a:p>
                </p:txBody>
              </p:sp>
              <p:pic>
                <p:nvPicPr>
                  <p:cNvPr id="72" name="圖片 71" descr="一張含有 地圖, 文字, 圖表, 地圖集 的圖片&#10;&#10;自動產生的描述">
                    <a:extLst>
                      <a:ext uri="{FF2B5EF4-FFF2-40B4-BE49-F238E27FC236}">
                        <a16:creationId xmlns:a16="http://schemas.microsoft.com/office/drawing/2014/main" id="{0139600D-4C5B-D74F-79EA-55E923A404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88017" y="16561420"/>
                    <a:ext cx="4782730" cy="4438212"/>
                  </a:xfrm>
                  <a:prstGeom prst="rect">
                    <a:avLst/>
                  </a:prstGeom>
                  <a:scene3d>
                    <a:camera prst="orthographicFront"/>
                    <a:lightRig rig="threePt" dir="t"/>
                  </a:scene3d>
                  <a:sp3d contourW="38100"/>
                </p:spPr>
              </p:pic>
              <p:sp>
                <p:nvSpPr>
                  <p:cNvPr id="74" name="矩形 73">
                    <a:extLst>
                      <a:ext uri="{FF2B5EF4-FFF2-40B4-BE49-F238E27FC236}">
                        <a16:creationId xmlns:a16="http://schemas.microsoft.com/office/drawing/2014/main" id="{5A38A699-36DA-C0D2-B6A2-0BA0A2C7E452}"/>
                      </a:ext>
                    </a:extLst>
                  </p:cNvPr>
                  <p:cNvSpPr/>
                  <p:nvPr/>
                </p:nvSpPr>
                <p:spPr>
                  <a:xfrm>
                    <a:off x="3672453" y="17411700"/>
                    <a:ext cx="838200" cy="533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6" name="直線單箭頭接點 75">
                    <a:extLst>
                      <a:ext uri="{FF2B5EF4-FFF2-40B4-BE49-F238E27FC236}">
                        <a16:creationId xmlns:a16="http://schemas.microsoft.com/office/drawing/2014/main" id="{8611A778-44BE-C101-4B70-B2CE69CB42B4}"/>
                      </a:ext>
                    </a:extLst>
                  </p:cNvPr>
                  <p:cNvCxnSpPr>
                    <a:cxnSpLocks/>
                  </p:cNvCxnSpPr>
                  <p:nvPr/>
                </p:nvCxnSpPr>
                <p:spPr>
                  <a:xfrm>
                    <a:off x="4679602" y="17549144"/>
                    <a:ext cx="2500435" cy="1990667"/>
                  </a:xfrm>
                  <a:prstGeom prst="straightConnector1">
                    <a:avLst/>
                  </a:prstGeom>
                  <a:ln w="889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B128F267-E3E9-BD42-EE5B-69AB61D766C7}"/>
                      </a:ext>
                    </a:extLst>
                  </p:cNvPr>
                  <p:cNvCxnSpPr>
                    <a:cxnSpLocks/>
                  </p:cNvCxnSpPr>
                  <p:nvPr/>
                </p:nvCxnSpPr>
                <p:spPr>
                  <a:xfrm flipV="1">
                    <a:off x="7736617" y="20033535"/>
                    <a:ext cx="87853" cy="109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F578BCC1-647F-4A34-4F04-6C8749E235B8}"/>
                      </a:ext>
                    </a:extLst>
                  </p:cNvPr>
                  <p:cNvCxnSpPr>
                    <a:cxnSpLocks/>
                  </p:cNvCxnSpPr>
                  <p:nvPr/>
                </p:nvCxnSpPr>
                <p:spPr>
                  <a:xfrm flipH="1" flipV="1">
                    <a:off x="7457045" y="19652535"/>
                    <a:ext cx="386812" cy="381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8" name="群組 97">
                  <a:extLst>
                    <a:ext uri="{FF2B5EF4-FFF2-40B4-BE49-F238E27FC236}">
                      <a16:creationId xmlns:a16="http://schemas.microsoft.com/office/drawing/2014/main" id="{3EE82906-F13C-6111-6CAD-394315C92622}"/>
                    </a:ext>
                  </a:extLst>
                </p:cNvPr>
                <p:cNvGrpSpPr/>
                <p:nvPr/>
              </p:nvGrpSpPr>
              <p:grpSpPr>
                <a:xfrm>
                  <a:off x="12236108" y="16582240"/>
                  <a:ext cx="10051114" cy="5104144"/>
                  <a:chOff x="2001528" y="22088017"/>
                  <a:chExt cx="10051114" cy="5104144"/>
                </a:xfrm>
              </p:grpSpPr>
              <p:pic>
                <p:nvPicPr>
                  <p:cNvPr id="87" name="圖片 86" descr="一張含有 文字, 圖表, 地圖 的圖片&#10;&#10;自動產生的描述">
                    <a:extLst>
                      <a:ext uri="{FF2B5EF4-FFF2-40B4-BE49-F238E27FC236}">
                        <a16:creationId xmlns:a16="http://schemas.microsoft.com/office/drawing/2014/main" id="{4FAD9E99-B481-E16F-BD02-70F5A0B4E51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01528" y="22088017"/>
                    <a:ext cx="4032041" cy="5104144"/>
                  </a:xfrm>
                  <a:prstGeom prst="rect">
                    <a:avLst/>
                  </a:prstGeom>
                  <a:scene3d>
                    <a:camera prst="orthographicFront"/>
                    <a:lightRig rig="threePt" dir="t"/>
                  </a:scene3d>
                  <a:sp3d contourW="38100"/>
                </p:spPr>
              </p:pic>
              <p:pic>
                <p:nvPicPr>
                  <p:cNvPr id="89" name="圖片 88" descr="一張含有 圖表, 文字, 地圖, 地圖集 的圖片&#10;&#10;自動產生的描述">
                    <a:extLst>
                      <a:ext uri="{FF2B5EF4-FFF2-40B4-BE49-F238E27FC236}">
                        <a16:creationId xmlns:a16="http://schemas.microsoft.com/office/drawing/2014/main" id="{E72AD432-17D3-6F2D-5633-001BC1B6791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52286" y="22088017"/>
                    <a:ext cx="5500356" cy="5104144"/>
                  </a:xfrm>
                  <a:prstGeom prst="rect">
                    <a:avLst/>
                  </a:prstGeom>
                  <a:scene3d>
                    <a:camera prst="orthographicFront"/>
                    <a:lightRig rig="threePt" dir="t"/>
                  </a:scene3d>
                  <a:sp3d contourW="38100"/>
                </p:spPr>
              </p:pic>
              <p:sp>
                <p:nvSpPr>
                  <p:cNvPr id="90" name="矩形 89">
                    <a:extLst>
                      <a:ext uri="{FF2B5EF4-FFF2-40B4-BE49-F238E27FC236}">
                        <a16:creationId xmlns:a16="http://schemas.microsoft.com/office/drawing/2014/main" id="{9D2085E0-729A-24D1-D81C-ADE73DDFF546}"/>
                      </a:ext>
                    </a:extLst>
                  </p:cNvPr>
                  <p:cNvSpPr/>
                  <p:nvPr/>
                </p:nvSpPr>
                <p:spPr>
                  <a:xfrm>
                    <a:off x="4057649" y="22898100"/>
                    <a:ext cx="685801" cy="457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3" name="直線單箭頭接點 92">
                    <a:extLst>
                      <a:ext uri="{FF2B5EF4-FFF2-40B4-BE49-F238E27FC236}">
                        <a16:creationId xmlns:a16="http://schemas.microsoft.com/office/drawing/2014/main" id="{C4E9C5FE-8964-E867-4A8F-50155753476F}"/>
                      </a:ext>
                    </a:extLst>
                  </p:cNvPr>
                  <p:cNvCxnSpPr>
                    <a:cxnSpLocks/>
                  </p:cNvCxnSpPr>
                  <p:nvPr/>
                </p:nvCxnSpPr>
                <p:spPr>
                  <a:xfrm>
                    <a:off x="4809016" y="22983210"/>
                    <a:ext cx="2375109" cy="3024962"/>
                  </a:xfrm>
                  <a:prstGeom prst="straightConnector1">
                    <a:avLst/>
                  </a:prstGeom>
                  <a:ln w="889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07" name="文字方塊 106">
                <a:extLst>
                  <a:ext uri="{FF2B5EF4-FFF2-40B4-BE49-F238E27FC236}">
                    <a16:creationId xmlns:a16="http://schemas.microsoft.com/office/drawing/2014/main" id="{D9D9539D-83C0-D5B4-077A-EE2634E5D255}"/>
                  </a:ext>
                </a:extLst>
              </p:cNvPr>
              <p:cNvSpPr txBox="1"/>
              <p:nvPr/>
            </p:nvSpPr>
            <p:spPr>
              <a:xfrm>
                <a:off x="2222891" y="16609425"/>
                <a:ext cx="17173079" cy="1390311"/>
              </a:xfrm>
              <a:prstGeom prst="rect">
                <a:avLst/>
              </a:prstGeom>
              <a:noFill/>
            </p:spPr>
            <p:txBody>
              <a:bodyPr wrap="square" rtlCol="0">
                <a:spAutoFit/>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zh-TW" altLang="en-US" sz="3000" dirty="0">
                    <a:solidFill>
                      <a:srgbClr val="595959"/>
                    </a:solidFill>
                    <a:latin typeface="Arimo Bold"/>
                    <a:ea typeface="Arimo Bold"/>
                    <a:cs typeface="Arimo Bold"/>
                    <a:sym typeface="Arimo Bold"/>
                  </a:rPr>
                  <a:t>由於中央氣象署</a:t>
                </a:r>
                <a:r>
                  <a:rPr kumimoji="0" lang="zh-TW" altLang="en-US"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雷達資料每</a:t>
                </a:r>
                <a:r>
                  <a:rPr kumimoji="0" lang="en-US" altLang="zh-TW"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10</a:t>
                </a:r>
                <a:r>
                  <a:rPr kumimoji="0" lang="zh-TW" altLang="en-US"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分鐘一筆，時間解析度不足，不利於觀察整個雨胞的生命週期，因此本研究透過調整雨胞偵測閾值</a:t>
                </a:r>
                <a:r>
                  <a:rPr kumimoji="0" lang="en-US" altLang="zh-TW"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a:t>
                </a:r>
                <a:r>
                  <a:rPr kumimoji="0" lang="zh-TW" altLang="en-US"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反射率範圍、最小降雨面積、平滑寬度</a:t>
                </a:r>
                <a:r>
                  <a:rPr kumimoji="0" lang="en-US" altLang="zh-TW"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a:t>
                </a:r>
                <a:r>
                  <a:rPr kumimoji="0" lang="zh-TW" altLang="en-US"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，將英國雨胞辨識演算法應用到臺灣地區，</a:t>
                </a:r>
                <a:r>
                  <a:rPr kumimoji="0" lang="zh-TW" altLang="en-US" sz="3000" i="0" u="none" strike="noStrike" kern="1200" cap="none" spc="0" normalizeH="0" baseline="0" noProof="0" dirty="0">
                    <a:ln>
                      <a:noFill/>
                    </a:ln>
                    <a:solidFill>
                      <a:srgbClr val="595959"/>
                    </a:solidFill>
                    <a:effectLst/>
                    <a:uLnTx/>
                    <a:uFillTx/>
                    <a:latin typeface="Arimo Bold"/>
                    <a:ea typeface="Arimo Bold"/>
                    <a:cs typeface="Arimo Bold"/>
                    <a:sym typeface="Arimo Bold"/>
                  </a:rPr>
                  <a:t>調整完閾值後，臺灣地區的雨胞更容易偵測和追蹤</a:t>
                </a:r>
                <a:r>
                  <a:rPr kumimoji="0" lang="zh-TW" altLang="en-US" sz="3000" b="0" i="0" u="none" strike="noStrike" kern="1200" cap="none" spc="0" normalizeH="0" baseline="0" noProof="0" dirty="0">
                    <a:ln>
                      <a:noFill/>
                    </a:ln>
                    <a:solidFill>
                      <a:srgbClr val="595959"/>
                    </a:solidFill>
                    <a:effectLst/>
                    <a:uLnTx/>
                    <a:uFillTx/>
                    <a:latin typeface="Arimo Bold"/>
                    <a:ea typeface="Arimo Bold"/>
                    <a:cs typeface="Arimo Bold"/>
                    <a:sym typeface="Arimo Bold"/>
                  </a:rPr>
                  <a:t>。</a:t>
                </a:r>
                <a:endParaRPr lang="zh-TW" altLang="en-US" sz="3000" b="1" dirty="0">
                  <a:solidFill>
                    <a:srgbClr val="595959"/>
                  </a:solidFill>
                  <a:latin typeface="Arimo Bold" panose="02020500000000000000" charset="0"/>
                  <a:cs typeface="Arimo Bold" panose="02020500000000000000" charset="0"/>
                </a:endParaRPr>
              </a:p>
            </p:txBody>
          </p:sp>
        </p:grpSp>
        <p:grpSp>
          <p:nvGrpSpPr>
            <p:cNvPr id="55" name="Group 55"/>
            <p:cNvGrpSpPr/>
            <p:nvPr/>
          </p:nvGrpSpPr>
          <p:grpSpPr>
            <a:xfrm>
              <a:off x="706928" y="21601105"/>
              <a:ext cx="3480121" cy="1064163"/>
              <a:chOff x="0" y="-19050"/>
              <a:chExt cx="4640161" cy="1418883"/>
            </a:xfrm>
          </p:grpSpPr>
          <p:sp>
            <p:nvSpPr>
              <p:cNvPr id="56" name="Freeform 56"/>
              <p:cNvSpPr/>
              <p:nvPr/>
            </p:nvSpPr>
            <p:spPr>
              <a:xfrm>
                <a:off x="4191" y="5603"/>
                <a:ext cx="4631690" cy="1388474"/>
              </a:xfrm>
              <a:custGeom>
                <a:avLst/>
                <a:gdLst/>
                <a:ahLst/>
                <a:cxnLst/>
                <a:rect l="l" t="t" r="r" b="b"/>
                <a:pathLst>
                  <a:path w="4631690" h="1388474">
                    <a:moveTo>
                      <a:pt x="0" y="0"/>
                    </a:moveTo>
                    <a:lnTo>
                      <a:pt x="4212082" y="0"/>
                    </a:lnTo>
                    <a:lnTo>
                      <a:pt x="4631690" y="557462"/>
                    </a:lnTo>
                    <a:lnTo>
                      <a:pt x="4631690" y="1388475"/>
                    </a:lnTo>
                    <a:lnTo>
                      <a:pt x="419608" y="1388475"/>
                    </a:lnTo>
                    <a:lnTo>
                      <a:pt x="0" y="831014"/>
                    </a:lnTo>
                    <a:lnTo>
                      <a:pt x="0" y="0"/>
                    </a:lnTo>
                    <a:close/>
                  </a:path>
                </a:pathLst>
              </a:custGeom>
              <a:solidFill>
                <a:srgbClr val="333F50"/>
              </a:solidFill>
            </p:spPr>
            <p:txBody>
              <a:bodyPr/>
              <a:lstStyle/>
              <a:p>
                <a:endParaRPr lang="zh-TW" altLang="en-US" dirty="0"/>
              </a:p>
            </p:txBody>
          </p:sp>
          <p:sp>
            <p:nvSpPr>
              <p:cNvPr id="57" name="Freeform 57"/>
              <p:cNvSpPr/>
              <p:nvPr/>
            </p:nvSpPr>
            <p:spPr>
              <a:xfrm>
                <a:off x="0" y="0"/>
                <a:ext cx="4640072" cy="1399833"/>
              </a:xfrm>
              <a:custGeom>
                <a:avLst/>
                <a:gdLst/>
                <a:ahLst/>
                <a:cxnLst/>
                <a:rect l="l" t="t" r="r" b="b"/>
                <a:pathLst>
                  <a:path w="4640072" h="1399833">
                    <a:moveTo>
                      <a:pt x="4191" y="0"/>
                    </a:moveTo>
                    <a:lnTo>
                      <a:pt x="4216273" y="0"/>
                    </a:lnTo>
                    <a:cubicBezTo>
                      <a:pt x="4217416" y="0"/>
                      <a:pt x="4218432" y="509"/>
                      <a:pt x="4219194" y="1698"/>
                    </a:cubicBezTo>
                    <a:lnTo>
                      <a:pt x="4638802" y="559159"/>
                    </a:lnTo>
                    <a:cubicBezTo>
                      <a:pt x="4639564" y="560178"/>
                      <a:pt x="4640072" y="561706"/>
                      <a:pt x="4640072" y="563235"/>
                    </a:cubicBezTo>
                    <a:lnTo>
                      <a:pt x="4640072" y="1394078"/>
                    </a:lnTo>
                    <a:lnTo>
                      <a:pt x="4635881" y="1394078"/>
                    </a:lnTo>
                    <a:lnTo>
                      <a:pt x="4635881" y="1388474"/>
                    </a:lnTo>
                    <a:lnTo>
                      <a:pt x="4635881" y="1394078"/>
                    </a:lnTo>
                    <a:lnTo>
                      <a:pt x="4635881" y="1399681"/>
                    </a:lnTo>
                    <a:lnTo>
                      <a:pt x="423799" y="1399681"/>
                    </a:lnTo>
                    <a:cubicBezTo>
                      <a:pt x="422656" y="1399681"/>
                      <a:pt x="421640" y="1399172"/>
                      <a:pt x="420878" y="1397983"/>
                    </a:cubicBezTo>
                    <a:lnTo>
                      <a:pt x="1270" y="840692"/>
                    </a:lnTo>
                    <a:cubicBezTo>
                      <a:pt x="508" y="839673"/>
                      <a:pt x="0" y="838145"/>
                      <a:pt x="0" y="836616"/>
                    </a:cubicBezTo>
                    <a:lnTo>
                      <a:pt x="0" y="5603"/>
                    </a:lnTo>
                    <a:cubicBezTo>
                      <a:pt x="0" y="2547"/>
                      <a:pt x="1905" y="0"/>
                      <a:pt x="4191" y="0"/>
                    </a:cubicBezTo>
                    <a:moveTo>
                      <a:pt x="4191" y="11377"/>
                    </a:moveTo>
                    <a:lnTo>
                      <a:pt x="4191" y="5603"/>
                    </a:lnTo>
                    <a:lnTo>
                      <a:pt x="8509" y="5603"/>
                    </a:lnTo>
                    <a:lnTo>
                      <a:pt x="8509" y="836617"/>
                    </a:lnTo>
                    <a:lnTo>
                      <a:pt x="4191" y="836617"/>
                    </a:lnTo>
                    <a:lnTo>
                      <a:pt x="7112" y="832541"/>
                    </a:lnTo>
                    <a:lnTo>
                      <a:pt x="426847" y="1390173"/>
                    </a:lnTo>
                    <a:lnTo>
                      <a:pt x="423926" y="1394248"/>
                    </a:lnTo>
                    <a:lnTo>
                      <a:pt x="423926" y="1388644"/>
                    </a:lnTo>
                    <a:lnTo>
                      <a:pt x="4635881" y="1388644"/>
                    </a:lnTo>
                    <a:cubicBezTo>
                      <a:pt x="4638167" y="1388644"/>
                      <a:pt x="4640072" y="1391191"/>
                      <a:pt x="4640072" y="1394248"/>
                    </a:cubicBezTo>
                    <a:cubicBezTo>
                      <a:pt x="4640072" y="1397304"/>
                      <a:pt x="4638167" y="1399833"/>
                      <a:pt x="4635881" y="1399833"/>
                    </a:cubicBezTo>
                    <a:cubicBezTo>
                      <a:pt x="4633595" y="1399833"/>
                      <a:pt x="4631690" y="1397304"/>
                      <a:pt x="4631690" y="1394248"/>
                    </a:cubicBezTo>
                    <a:lnTo>
                      <a:pt x="4631690" y="563235"/>
                    </a:lnTo>
                    <a:lnTo>
                      <a:pt x="4635881" y="563235"/>
                    </a:lnTo>
                    <a:lnTo>
                      <a:pt x="4632960" y="567310"/>
                    </a:lnTo>
                    <a:lnTo>
                      <a:pt x="4213352" y="9679"/>
                    </a:lnTo>
                    <a:lnTo>
                      <a:pt x="4216273" y="5603"/>
                    </a:lnTo>
                    <a:lnTo>
                      <a:pt x="4216273" y="11377"/>
                    </a:lnTo>
                    <a:lnTo>
                      <a:pt x="4191" y="11377"/>
                    </a:lnTo>
                    <a:close/>
                  </a:path>
                </a:pathLst>
              </a:custGeom>
              <a:solidFill>
                <a:srgbClr val="FFFFFF"/>
              </a:solidFill>
            </p:spPr>
            <p:txBody>
              <a:bodyPr/>
              <a:lstStyle/>
              <a:p>
                <a:endParaRPr lang="zh-TW" altLang="en-US"/>
              </a:p>
            </p:txBody>
          </p:sp>
          <p:sp>
            <p:nvSpPr>
              <p:cNvPr id="58" name="TextBox 58"/>
              <p:cNvSpPr txBox="1"/>
              <p:nvPr/>
            </p:nvSpPr>
            <p:spPr>
              <a:xfrm>
                <a:off x="0" y="-19050"/>
                <a:ext cx="4640161" cy="1418828"/>
              </a:xfrm>
              <a:prstGeom prst="rect">
                <a:avLst/>
              </a:prstGeom>
            </p:spPr>
            <p:txBody>
              <a:bodyPr lIns="50800" tIns="50800" rIns="50800" bIns="50800" rtlCol="0" anchor="ctr"/>
              <a:lstStyle/>
              <a:p>
                <a:pPr algn="ctr">
                  <a:lnSpc>
                    <a:spcPts val="5759"/>
                  </a:lnSpc>
                </a:pPr>
                <a:r>
                  <a:rPr lang="en-US" sz="4800" dirty="0" err="1">
                    <a:solidFill>
                      <a:srgbClr val="FFFFFF"/>
                    </a:solidFill>
                    <a:latin typeface="Arimo Bold"/>
                    <a:ea typeface="Arimo Bold"/>
                    <a:cs typeface="Arimo Bold"/>
                    <a:sym typeface="Arimo Bold"/>
                  </a:rPr>
                  <a:t>研究結果</a:t>
                </a:r>
                <a:endParaRPr lang="en-US" sz="4800" dirty="0">
                  <a:solidFill>
                    <a:srgbClr val="FFFFFF"/>
                  </a:solidFill>
                  <a:latin typeface="Arimo Bold"/>
                  <a:ea typeface="Arimo Bold"/>
                  <a:cs typeface="Arimo Bold"/>
                  <a:sym typeface="Arimo Bold"/>
                </a:endParaRPr>
              </a:p>
            </p:txBody>
          </p:sp>
        </p:grpSp>
      </p:grpSp>
      <p:sp>
        <p:nvSpPr>
          <p:cNvPr id="61" name="TextBox 61"/>
          <p:cNvSpPr txBox="1"/>
          <p:nvPr/>
        </p:nvSpPr>
        <p:spPr>
          <a:xfrm>
            <a:off x="5854930" y="1043759"/>
            <a:ext cx="13851731" cy="952798"/>
          </a:xfrm>
          <a:prstGeom prst="rect">
            <a:avLst/>
          </a:prstGeom>
        </p:spPr>
        <p:txBody>
          <a:bodyPr lIns="0" tIns="0" rIns="0" bIns="0" rtlCol="0" anchor="t">
            <a:spAutoFit/>
          </a:bodyPr>
          <a:lstStyle/>
          <a:p>
            <a:pPr algn="l">
              <a:lnSpc>
                <a:spcPts val="7200"/>
              </a:lnSpc>
            </a:pPr>
            <a:r>
              <a:rPr lang="en-US" sz="6000" dirty="0" err="1">
                <a:solidFill>
                  <a:srgbClr val="595959"/>
                </a:solidFill>
                <a:latin typeface="Arimo Bold"/>
                <a:ea typeface="Arimo Bold"/>
                <a:cs typeface="Arimo Bold"/>
                <a:sym typeface="Arimo Bold"/>
              </a:rPr>
              <a:t>應用衛星資料輔助午後雷陣雨短延時預測</a:t>
            </a:r>
            <a:endParaRPr lang="en-US" sz="6000" dirty="0">
              <a:solidFill>
                <a:srgbClr val="595959"/>
              </a:solidFill>
              <a:latin typeface="Arimo Bold"/>
              <a:ea typeface="Arimo Bold"/>
              <a:cs typeface="Arimo Bold"/>
              <a:sym typeface="Arimo Bold"/>
            </a:endParaRPr>
          </a:p>
        </p:txBody>
      </p:sp>
      <p:sp>
        <p:nvSpPr>
          <p:cNvPr id="62" name="TextBox 62"/>
          <p:cNvSpPr txBox="1"/>
          <p:nvPr/>
        </p:nvSpPr>
        <p:spPr>
          <a:xfrm>
            <a:off x="5854930" y="2059422"/>
            <a:ext cx="8311753" cy="583466"/>
          </a:xfrm>
          <a:prstGeom prst="rect">
            <a:avLst/>
          </a:prstGeom>
        </p:spPr>
        <p:txBody>
          <a:bodyPr lIns="0" tIns="0" rIns="0" bIns="0" rtlCol="0" anchor="t">
            <a:spAutoFit/>
          </a:bodyPr>
          <a:lstStyle/>
          <a:p>
            <a:pPr algn="l">
              <a:lnSpc>
                <a:spcPts val="4320"/>
              </a:lnSpc>
            </a:pPr>
            <a:r>
              <a:rPr lang="en-US" sz="3600" dirty="0" err="1">
                <a:solidFill>
                  <a:srgbClr val="595959"/>
                </a:solidFill>
                <a:latin typeface="Arimo Bold"/>
                <a:ea typeface="Arimo Bold"/>
                <a:cs typeface="Arimo Bold"/>
                <a:sym typeface="Arimo Bold"/>
              </a:rPr>
              <a:t>以雨胞資料分析臺北地區午後雷陣雨事件</a:t>
            </a:r>
            <a:endParaRPr lang="en-US" sz="3600" dirty="0">
              <a:solidFill>
                <a:srgbClr val="595959"/>
              </a:solidFill>
              <a:latin typeface="Arimo Bold"/>
              <a:ea typeface="Arimo Bold"/>
              <a:cs typeface="Arimo Bold"/>
              <a:sym typeface="Arimo Bold"/>
            </a:endParaRPr>
          </a:p>
        </p:txBody>
      </p:sp>
      <p:sp>
        <p:nvSpPr>
          <p:cNvPr id="63" name="TextBox 63"/>
          <p:cNvSpPr txBox="1"/>
          <p:nvPr/>
        </p:nvSpPr>
        <p:spPr>
          <a:xfrm>
            <a:off x="5854930" y="2761444"/>
            <a:ext cx="9251720" cy="923330"/>
          </a:xfrm>
          <a:prstGeom prst="rect">
            <a:avLst/>
          </a:prstGeom>
        </p:spPr>
        <p:txBody>
          <a:bodyPr wrap="square" lIns="0" tIns="0" rIns="0" bIns="0" rtlCol="0" anchor="t">
            <a:spAutoFit/>
          </a:bodyPr>
          <a:lstStyle/>
          <a:p>
            <a:pPr algn="l">
              <a:lnSpc>
                <a:spcPts val="3600"/>
              </a:lnSpc>
            </a:pPr>
            <a:r>
              <a:rPr lang="en-US" sz="3000" b="1" dirty="0" err="1">
                <a:solidFill>
                  <a:srgbClr val="595959"/>
                </a:solidFill>
                <a:latin typeface="Arimo"/>
                <a:ea typeface="Arimo"/>
                <a:cs typeface="Arimo"/>
                <a:sym typeface="Arimo"/>
              </a:rPr>
              <a:t>指導老師</a:t>
            </a:r>
            <a:r>
              <a:rPr lang="en-US" sz="3000" b="1" dirty="0">
                <a:solidFill>
                  <a:srgbClr val="595959"/>
                </a:solidFill>
                <a:latin typeface="Arimo"/>
                <a:ea typeface="Arimo"/>
                <a:cs typeface="Arimo"/>
                <a:sym typeface="Arimo"/>
              </a:rPr>
              <a:t>/</a:t>
            </a:r>
            <a:r>
              <a:rPr lang="en-US" sz="3000" b="1" dirty="0" err="1">
                <a:solidFill>
                  <a:srgbClr val="595959"/>
                </a:solidFill>
                <a:latin typeface="Arimo"/>
                <a:ea typeface="Arimo"/>
                <a:cs typeface="Arimo"/>
                <a:sym typeface="Arimo"/>
              </a:rPr>
              <a:t>汪立本</a:t>
            </a:r>
            <a:r>
              <a:rPr lang="en-US" sz="3000" b="1" dirty="0">
                <a:solidFill>
                  <a:srgbClr val="595959"/>
                </a:solidFill>
                <a:latin typeface="Arimo"/>
                <a:ea typeface="Arimo"/>
                <a:cs typeface="Arimo"/>
                <a:sym typeface="Arimo"/>
              </a:rPr>
              <a:t> </a:t>
            </a:r>
            <a:r>
              <a:rPr lang="en-US" sz="3000" b="1" dirty="0" err="1">
                <a:solidFill>
                  <a:srgbClr val="595959"/>
                </a:solidFill>
                <a:latin typeface="Arimo"/>
                <a:ea typeface="Arimo"/>
                <a:cs typeface="Arimo"/>
                <a:sym typeface="Arimo"/>
              </a:rPr>
              <a:t>專案經理</a:t>
            </a:r>
            <a:r>
              <a:rPr lang="en-US" sz="3000" b="1" dirty="0">
                <a:solidFill>
                  <a:srgbClr val="595959"/>
                </a:solidFill>
                <a:latin typeface="Arimo"/>
                <a:ea typeface="Arimo"/>
                <a:cs typeface="Arimo"/>
                <a:sym typeface="Arimo"/>
              </a:rPr>
              <a:t>/</a:t>
            </a:r>
            <a:r>
              <a:rPr lang="en-US" sz="3000" b="1" dirty="0" err="1">
                <a:solidFill>
                  <a:srgbClr val="595959"/>
                </a:solidFill>
                <a:latin typeface="Arimo"/>
                <a:ea typeface="Arimo"/>
                <a:cs typeface="Arimo"/>
                <a:sym typeface="Arimo"/>
              </a:rPr>
              <a:t>許筠曼、陳沛均</a:t>
            </a:r>
            <a:r>
              <a:rPr lang="zh-TW" altLang="en-US" sz="3000" b="1" dirty="0">
                <a:solidFill>
                  <a:srgbClr val="595959"/>
                </a:solidFill>
                <a:latin typeface="Arimo"/>
                <a:ea typeface="Arimo"/>
                <a:cs typeface="Arimo"/>
                <a:sym typeface="Arimo"/>
              </a:rPr>
              <a:t>、曾千瑜</a:t>
            </a:r>
            <a:r>
              <a:rPr lang="en-US" sz="3000" b="1" dirty="0">
                <a:solidFill>
                  <a:srgbClr val="595959"/>
                </a:solidFill>
                <a:latin typeface="Arimo"/>
                <a:ea typeface="Arimo"/>
                <a:cs typeface="Arimo"/>
                <a:sym typeface="Arimo"/>
              </a:rPr>
              <a:t> </a:t>
            </a:r>
          </a:p>
          <a:p>
            <a:pPr algn="l">
              <a:lnSpc>
                <a:spcPts val="3600"/>
              </a:lnSpc>
            </a:pPr>
            <a:r>
              <a:rPr lang="en-US" sz="3000" b="1" dirty="0" err="1">
                <a:solidFill>
                  <a:srgbClr val="595959"/>
                </a:solidFill>
                <a:latin typeface="Arimo"/>
                <a:ea typeface="Arimo"/>
                <a:cs typeface="Arimo"/>
                <a:sym typeface="Arimo"/>
              </a:rPr>
              <a:t>實習生</a:t>
            </a:r>
            <a:r>
              <a:rPr lang="en-US" sz="3000" b="1" dirty="0">
                <a:solidFill>
                  <a:srgbClr val="595959"/>
                </a:solidFill>
                <a:latin typeface="Arimo"/>
                <a:ea typeface="Arimo"/>
                <a:cs typeface="Arimo"/>
                <a:sym typeface="Arimo"/>
              </a:rPr>
              <a:t>/</a:t>
            </a:r>
            <a:r>
              <a:rPr lang="en-US" sz="3000" b="1" dirty="0" err="1">
                <a:solidFill>
                  <a:srgbClr val="595959"/>
                </a:solidFill>
                <a:latin typeface="Arimo"/>
                <a:ea typeface="Arimo"/>
                <a:cs typeface="Arimo"/>
                <a:sym typeface="Arimo"/>
              </a:rPr>
              <a:t>吳政騏</a:t>
            </a:r>
            <a:endParaRPr lang="en-US" sz="3000" b="1" dirty="0">
              <a:solidFill>
                <a:srgbClr val="595959"/>
              </a:solidFill>
              <a:latin typeface="Arimo"/>
              <a:ea typeface="Arimo"/>
              <a:cs typeface="Arimo"/>
              <a:sym typeface="Arimo"/>
            </a:endParaRPr>
          </a:p>
        </p:txBody>
      </p:sp>
      <p:cxnSp>
        <p:nvCxnSpPr>
          <p:cNvPr id="183" name="直線單箭頭接點 182">
            <a:extLst>
              <a:ext uri="{FF2B5EF4-FFF2-40B4-BE49-F238E27FC236}">
                <a16:creationId xmlns:a16="http://schemas.microsoft.com/office/drawing/2014/main" id="{DD097CF6-6EF5-6FAF-66E6-E29A19BF6C26}"/>
              </a:ext>
            </a:extLst>
          </p:cNvPr>
          <p:cNvCxnSpPr>
            <a:cxnSpLocks/>
          </p:cNvCxnSpPr>
          <p:nvPr/>
        </p:nvCxnSpPr>
        <p:spPr>
          <a:xfrm>
            <a:off x="16043128" y="26081556"/>
            <a:ext cx="304800" cy="76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a:extLst>
              <a:ext uri="{FF2B5EF4-FFF2-40B4-BE49-F238E27FC236}">
                <a16:creationId xmlns:a16="http://schemas.microsoft.com/office/drawing/2014/main" id="{642BDD01-9D86-3588-3A7B-D9B7DD81A462}"/>
              </a:ext>
            </a:extLst>
          </p:cNvPr>
          <p:cNvCxnSpPr>
            <a:cxnSpLocks/>
          </p:cNvCxnSpPr>
          <p:nvPr/>
        </p:nvCxnSpPr>
        <p:spPr>
          <a:xfrm flipH="1">
            <a:off x="15987642" y="26246101"/>
            <a:ext cx="360286" cy="7125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4" name="文字方塊 203">
            <a:extLst>
              <a:ext uri="{FF2B5EF4-FFF2-40B4-BE49-F238E27FC236}">
                <a16:creationId xmlns:a16="http://schemas.microsoft.com/office/drawing/2014/main" id="{4BF99E53-5805-1919-F2E4-E0893A169C51}"/>
              </a:ext>
            </a:extLst>
          </p:cNvPr>
          <p:cNvSpPr txBox="1"/>
          <p:nvPr/>
        </p:nvSpPr>
        <p:spPr>
          <a:xfrm>
            <a:off x="1632873" y="28714985"/>
            <a:ext cx="17989408" cy="1015663"/>
          </a:xfrm>
          <a:prstGeom prst="rect">
            <a:avLst/>
          </a:prstGeom>
          <a:noFill/>
        </p:spPr>
        <p:txBody>
          <a:bodyPr wrap="square" rtlCol="0">
            <a:spAutoFit/>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zh-TW" altLang="en-US" sz="3000" dirty="0">
                <a:solidFill>
                  <a:srgbClr val="595959"/>
                </a:solidFill>
                <a:latin typeface="Arimo Bold"/>
                <a:ea typeface="Arimo Bold"/>
                <a:cs typeface="Arimo Bold"/>
                <a:sym typeface="Arimo Bold"/>
              </a:rPr>
              <a:t>透過修改這些參數，目前已可使用英國雨胞辨識演算法應用到臺灣雨胞的追蹤。未來可配合選取不同事件結合衛星和雨量站資料以深度學習來模擬與預測雷陣雨，以達到防範的作用。</a:t>
            </a:r>
            <a:endParaRPr lang="zh-TW" altLang="en-US" dirty="0"/>
          </a:p>
        </p:txBody>
      </p:sp>
      <mc:AlternateContent xmlns:mc="http://schemas.openxmlformats.org/markup-compatibility/2006">
        <mc:Choice xmlns:a14="http://schemas.microsoft.com/office/drawing/2010/main" Requires="a14">
          <p:graphicFrame>
            <p:nvGraphicFramePr>
              <p:cNvPr id="220" name="表格 219">
                <a:extLst>
                  <a:ext uri="{FF2B5EF4-FFF2-40B4-BE49-F238E27FC236}">
                    <a16:creationId xmlns:a16="http://schemas.microsoft.com/office/drawing/2014/main" id="{7F129BD9-9A56-E2E9-63E9-66DAA928FB1A}"/>
                  </a:ext>
                </a:extLst>
              </p:cNvPr>
              <p:cNvGraphicFramePr>
                <a:graphicFrameLocks noGrp="1"/>
              </p:cNvGraphicFramePr>
              <p:nvPr>
                <p:extLst>
                  <p:ext uri="{D42A27DB-BD31-4B8C-83A1-F6EECF244321}">
                    <p14:modId xmlns:p14="http://schemas.microsoft.com/office/powerpoint/2010/main" val="867491222"/>
                  </p:ext>
                </p:extLst>
              </p:nvPr>
            </p:nvGraphicFramePr>
            <p:xfrm>
              <a:off x="2091512" y="16252040"/>
              <a:ext cx="10848672" cy="3335650"/>
            </p:xfrm>
            <a:graphic>
              <a:graphicData uri="http://schemas.openxmlformats.org/drawingml/2006/table">
                <a:tbl>
                  <a:tblPr>
                    <a:tableStyleId>{5C22544A-7EE6-4342-B048-85BDC9FD1C3A}</a:tableStyleId>
                  </a:tblPr>
                  <a:tblGrid>
                    <a:gridCol w="3616224">
                      <a:extLst>
                        <a:ext uri="{9D8B030D-6E8A-4147-A177-3AD203B41FA5}">
                          <a16:colId xmlns:a16="http://schemas.microsoft.com/office/drawing/2014/main" val="2172566630"/>
                        </a:ext>
                      </a:extLst>
                    </a:gridCol>
                    <a:gridCol w="3616224">
                      <a:extLst>
                        <a:ext uri="{9D8B030D-6E8A-4147-A177-3AD203B41FA5}">
                          <a16:colId xmlns:a16="http://schemas.microsoft.com/office/drawing/2014/main" val="1526355049"/>
                        </a:ext>
                      </a:extLst>
                    </a:gridCol>
                    <a:gridCol w="3616224">
                      <a:extLst>
                        <a:ext uri="{9D8B030D-6E8A-4147-A177-3AD203B41FA5}">
                          <a16:colId xmlns:a16="http://schemas.microsoft.com/office/drawing/2014/main" val="1363367006"/>
                        </a:ext>
                      </a:extLst>
                    </a:gridCol>
                  </a:tblGrid>
                  <a:tr h="667130">
                    <a:tc>
                      <a:txBody>
                        <a:bodyPr/>
                        <a:lstStyle/>
                        <a:p>
                          <a:pPr algn="l" fontAlgn="ctr"/>
                          <a:endParaRPr lang="zh-TW" altLang="en-US"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英國</a:t>
                          </a:r>
                        </a:p>
                      </a:txBody>
                      <a:tcPr marL="4763" marR="4763" marT="4763" marB="0" anchor="ctr"/>
                    </a:tc>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臺灣</a:t>
                          </a:r>
                        </a:p>
                      </a:txBody>
                      <a:tcPr marL="4763" marR="4763" marT="4763" marB="0" anchor="ctr"/>
                    </a:tc>
                    <a:extLst>
                      <a:ext uri="{0D108BD9-81ED-4DB2-BD59-A6C34878D82A}">
                        <a16:rowId xmlns:a16="http://schemas.microsoft.com/office/drawing/2014/main" val="3930987882"/>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最小面積</a:t>
                          </a:r>
                        </a:p>
                      </a:txBody>
                      <a:tcPr marL="4763" marR="4763" marT="4763" marB="0" anchor="ctr"/>
                    </a:tc>
                    <a:tc>
                      <a:txBody>
                        <a:bodyPr/>
                        <a:lstStyle/>
                        <a:p>
                          <a:pPr algn="ctr" fontAlgn="ctr"/>
                          <a:r>
                            <a:rPr lang="en-US" sz="3000" b="0" kern="1200" dirty="0">
                              <a:solidFill>
                                <a:srgbClr val="595959"/>
                              </a:solidFill>
                              <a:latin typeface="微軟正黑體" panose="020B0604030504040204" pitchFamily="34" charset="-120"/>
                              <a:ea typeface="微軟正黑體" panose="020B0604030504040204" pitchFamily="34" charset="-120"/>
                              <a:cs typeface="Arimo Bold"/>
                            </a:rPr>
                            <a:t>3 pixel</a:t>
                          </a:r>
                        </a:p>
                      </a:txBody>
                      <a:tcPr marL="4763" marR="4763" marT="4763" marB="0" anchor="ctr"/>
                    </a:tc>
                    <a:tc>
                      <a:txBody>
                        <a:bodyPr/>
                        <a:lstStyle/>
                        <a:p>
                          <a:pPr algn="ctr" fontAlgn="ctr"/>
                          <a:r>
                            <a:rPr lang="en-US" sz="3000" kern="1200" dirty="0">
                              <a:solidFill>
                                <a:srgbClr val="595959"/>
                              </a:solidFill>
                              <a:latin typeface="微軟正黑體" panose="020B0604030504040204" pitchFamily="34" charset="-120"/>
                              <a:ea typeface="微軟正黑體" panose="020B0604030504040204" pitchFamily="34" charset="-120"/>
                              <a:cs typeface="Arimo Bold"/>
                            </a:rPr>
                            <a:t>1 pixel</a:t>
                          </a:r>
                        </a:p>
                      </a:txBody>
                      <a:tcPr marL="4763" marR="4763" marT="4763" marB="0" anchor="ctr"/>
                    </a:tc>
                    <a:extLst>
                      <a:ext uri="{0D108BD9-81ED-4DB2-BD59-A6C34878D82A}">
                        <a16:rowId xmlns:a16="http://schemas.microsoft.com/office/drawing/2014/main" val="3512178587"/>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最小</a:t>
                          </a:r>
                          <a:r>
                            <a:rPr lang="en-US" sz="3000" kern="1200" dirty="0">
                              <a:solidFill>
                                <a:srgbClr val="595959"/>
                              </a:solidFill>
                              <a:latin typeface="微軟正黑體" panose="020B0604030504040204" pitchFamily="34" charset="-120"/>
                              <a:ea typeface="微軟正黑體" panose="020B0604030504040204" pitchFamily="34" charset="-120"/>
                              <a:cs typeface="Arimo Bold"/>
                            </a:rPr>
                            <a:t>VIL</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5 </a:t>
                          </a:r>
                          <a14:m>
                            <m:oMath xmlns:m="http://schemas.openxmlformats.org/officeDocument/2006/math">
                              <m:r>
                                <a:rPr lang="en-US" altLang="zh-TW" sz="3000" kern="1200" smtClean="0">
                                  <a:solidFill>
                                    <a:srgbClr val="595959"/>
                                  </a:solidFill>
                                  <a:latin typeface="Cambria Math" panose="02040503050406030204" pitchFamily="18" charset="0"/>
                                  <a:ea typeface="Arimo"/>
                                  <a:cs typeface="Arimo"/>
                                </a:rPr>
                                <m:t>𝑘𝑔</m:t>
                              </m:r>
                              <m:sSup>
                                <m:sSupPr>
                                  <m:ctrlPr>
                                    <a:rPr lang="en-US" altLang="zh-TW" sz="3000" i="1" kern="1200" smtClean="0">
                                      <a:solidFill>
                                        <a:srgbClr val="595959"/>
                                      </a:solidFill>
                                      <a:latin typeface="Cambria Math" panose="02040503050406030204" pitchFamily="18" charset="0"/>
                                      <a:ea typeface="Arimo"/>
                                      <a:cs typeface="Arimo"/>
                                    </a:rPr>
                                  </m:ctrlPr>
                                </m:sSupPr>
                                <m:e>
                                  <m:r>
                                    <a:rPr lang="en-US" altLang="zh-TW" sz="3000" kern="1200" smtClean="0">
                                      <a:solidFill>
                                        <a:srgbClr val="595959"/>
                                      </a:solidFill>
                                      <a:latin typeface="Cambria Math" panose="02040503050406030204" pitchFamily="18" charset="0"/>
                                      <a:ea typeface="Arimo"/>
                                      <a:cs typeface="Arimo"/>
                                    </a:rPr>
                                    <m:t>𝑚</m:t>
                                  </m:r>
                                </m:e>
                                <m:sup>
                                  <m:r>
                                    <a:rPr lang="en-US" altLang="zh-TW" sz="3000" kern="1200" smtClean="0">
                                      <a:solidFill>
                                        <a:srgbClr val="595959"/>
                                      </a:solidFill>
                                      <a:latin typeface="Cambria Math" panose="02040503050406030204" pitchFamily="18" charset="0"/>
                                      <a:ea typeface="Arimo"/>
                                      <a:cs typeface="Arimo"/>
                                    </a:rPr>
                                    <m:t>−2</m:t>
                                  </m:r>
                                </m:sup>
                              </m:sSup>
                            </m:oMath>
                          </a14:m>
                          <a:endParaRPr lang="en-US" altLang="zh-TW"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3 </a:t>
                          </a:r>
                          <a14:m>
                            <m:oMath xmlns:m="http://schemas.openxmlformats.org/officeDocument/2006/math">
                              <m:r>
                                <a:rPr lang="en-US" altLang="zh-TW" sz="3000" kern="1200" smtClean="0">
                                  <a:solidFill>
                                    <a:srgbClr val="595959"/>
                                  </a:solidFill>
                                  <a:latin typeface="Cambria Math" panose="02040503050406030204" pitchFamily="18" charset="0"/>
                                  <a:ea typeface="Arimo"/>
                                  <a:cs typeface="Arimo"/>
                                </a:rPr>
                                <m:t>𝑘𝑔</m:t>
                              </m:r>
                              <m:sSup>
                                <m:sSupPr>
                                  <m:ctrlPr>
                                    <a:rPr lang="en-US" altLang="zh-TW" sz="3000" i="1" kern="1200" smtClean="0">
                                      <a:solidFill>
                                        <a:srgbClr val="595959"/>
                                      </a:solidFill>
                                      <a:latin typeface="Cambria Math" panose="02040503050406030204" pitchFamily="18" charset="0"/>
                                      <a:ea typeface="Arimo"/>
                                      <a:cs typeface="Arimo"/>
                                    </a:rPr>
                                  </m:ctrlPr>
                                </m:sSupPr>
                                <m:e>
                                  <m:r>
                                    <a:rPr lang="en-US" altLang="zh-TW" sz="3000" kern="1200" smtClean="0">
                                      <a:solidFill>
                                        <a:srgbClr val="595959"/>
                                      </a:solidFill>
                                      <a:latin typeface="Cambria Math" panose="02040503050406030204" pitchFamily="18" charset="0"/>
                                      <a:ea typeface="Arimo"/>
                                      <a:cs typeface="Arimo"/>
                                    </a:rPr>
                                    <m:t>𝑚</m:t>
                                  </m:r>
                                </m:e>
                                <m:sup>
                                  <m:r>
                                    <a:rPr lang="en-US" altLang="zh-TW" sz="3000" kern="1200" smtClean="0">
                                      <a:solidFill>
                                        <a:srgbClr val="595959"/>
                                      </a:solidFill>
                                      <a:latin typeface="Cambria Math" panose="02040503050406030204" pitchFamily="18" charset="0"/>
                                      <a:ea typeface="Arimo"/>
                                      <a:cs typeface="Arimo"/>
                                    </a:rPr>
                                    <m:t>−2</m:t>
                                  </m:r>
                                </m:sup>
                              </m:sSup>
                            </m:oMath>
                          </a14:m>
                          <a:endParaRPr lang="en-US" altLang="zh-TW"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extLst>
                      <a:ext uri="{0D108BD9-81ED-4DB2-BD59-A6C34878D82A}">
                        <a16:rowId xmlns:a16="http://schemas.microsoft.com/office/drawing/2014/main" val="3217207107"/>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平滑寬度</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1</a:t>
                          </a: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 </a:t>
                          </a: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pixel</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3 pixel</a:t>
                          </a:r>
                        </a:p>
                      </a:txBody>
                      <a:tcPr marL="4763" marR="4763" marT="4763" marB="0" anchor="ctr"/>
                    </a:tc>
                    <a:extLst>
                      <a:ext uri="{0D108BD9-81ED-4DB2-BD59-A6C34878D82A}">
                        <a16:rowId xmlns:a16="http://schemas.microsoft.com/office/drawing/2014/main" val="3992910122"/>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資料時間</a:t>
                          </a:r>
                        </a:p>
                      </a:txBody>
                      <a:tcPr marL="4763" marR="4763" marT="4763" marB="0" anchor="ctr"/>
                    </a:tc>
                    <a:tc>
                      <a:txBody>
                        <a:bodyPr/>
                        <a:lstStyle/>
                        <a:p>
                          <a:pPr algn="ctr" fontAlgn="ctr"/>
                          <a:r>
                            <a:rPr lang="en-US" sz="3000" kern="1200" dirty="0">
                              <a:solidFill>
                                <a:srgbClr val="595959"/>
                              </a:solidFill>
                              <a:latin typeface="微軟正黑體" panose="020B0604030504040204" pitchFamily="34" charset="-120"/>
                              <a:ea typeface="微軟正黑體" panose="020B0604030504040204" pitchFamily="34" charset="-120"/>
                              <a:cs typeface="Arimo Bold"/>
                            </a:rPr>
                            <a:t>UTC+0</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UTC+8</a:t>
                          </a:r>
                          <a:endParaRPr lang="en-US"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extLst>
                      <a:ext uri="{0D108BD9-81ED-4DB2-BD59-A6C34878D82A}">
                        <a16:rowId xmlns:a16="http://schemas.microsoft.com/office/drawing/2014/main" val="1215576988"/>
                      </a:ext>
                    </a:extLst>
                  </a:tr>
                </a:tbl>
              </a:graphicData>
            </a:graphic>
          </p:graphicFrame>
        </mc:Choice>
        <mc:Fallback>
          <p:graphicFrame>
            <p:nvGraphicFramePr>
              <p:cNvPr id="220" name="表格 219">
                <a:extLst>
                  <a:ext uri="{FF2B5EF4-FFF2-40B4-BE49-F238E27FC236}">
                    <a16:creationId xmlns:a16="http://schemas.microsoft.com/office/drawing/2014/main" id="{7F129BD9-9A56-E2E9-63E9-66DAA928FB1A}"/>
                  </a:ext>
                </a:extLst>
              </p:cNvPr>
              <p:cNvGraphicFramePr>
                <a:graphicFrameLocks noGrp="1"/>
              </p:cNvGraphicFramePr>
              <p:nvPr>
                <p:extLst>
                  <p:ext uri="{D42A27DB-BD31-4B8C-83A1-F6EECF244321}">
                    <p14:modId xmlns:p14="http://schemas.microsoft.com/office/powerpoint/2010/main" val="867491222"/>
                  </p:ext>
                </p:extLst>
              </p:nvPr>
            </p:nvGraphicFramePr>
            <p:xfrm>
              <a:off x="2091512" y="16252040"/>
              <a:ext cx="10848672" cy="3335650"/>
            </p:xfrm>
            <a:graphic>
              <a:graphicData uri="http://schemas.openxmlformats.org/drawingml/2006/table">
                <a:tbl>
                  <a:tblPr>
                    <a:tableStyleId>{5C22544A-7EE6-4342-B048-85BDC9FD1C3A}</a:tableStyleId>
                  </a:tblPr>
                  <a:tblGrid>
                    <a:gridCol w="3616224">
                      <a:extLst>
                        <a:ext uri="{9D8B030D-6E8A-4147-A177-3AD203B41FA5}">
                          <a16:colId xmlns:a16="http://schemas.microsoft.com/office/drawing/2014/main" val="2172566630"/>
                        </a:ext>
                      </a:extLst>
                    </a:gridCol>
                    <a:gridCol w="3616224">
                      <a:extLst>
                        <a:ext uri="{9D8B030D-6E8A-4147-A177-3AD203B41FA5}">
                          <a16:colId xmlns:a16="http://schemas.microsoft.com/office/drawing/2014/main" val="1526355049"/>
                        </a:ext>
                      </a:extLst>
                    </a:gridCol>
                    <a:gridCol w="3616224">
                      <a:extLst>
                        <a:ext uri="{9D8B030D-6E8A-4147-A177-3AD203B41FA5}">
                          <a16:colId xmlns:a16="http://schemas.microsoft.com/office/drawing/2014/main" val="1363367006"/>
                        </a:ext>
                      </a:extLst>
                    </a:gridCol>
                  </a:tblGrid>
                  <a:tr h="667130">
                    <a:tc>
                      <a:txBody>
                        <a:bodyPr/>
                        <a:lstStyle/>
                        <a:p>
                          <a:pPr algn="l" fontAlgn="ctr"/>
                          <a:endParaRPr lang="zh-TW" altLang="en-US"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英國</a:t>
                          </a:r>
                        </a:p>
                      </a:txBody>
                      <a:tcPr marL="4763" marR="4763" marT="4763" marB="0" anchor="ctr"/>
                    </a:tc>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臺灣</a:t>
                          </a:r>
                        </a:p>
                      </a:txBody>
                      <a:tcPr marL="4763" marR="4763" marT="4763" marB="0" anchor="ctr"/>
                    </a:tc>
                    <a:extLst>
                      <a:ext uri="{0D108BD9-81ED-4DB2-BD59-A6C34878D82A}">
                        <a16:rowId xmlns:a16="http://schemas.microsoft.com/office/drawing/2014/main" val="3930987882"/>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最小面積</a:t>
                          </a:r>
                        </a:p>
                      </a:txBody>
                      <a:tcPr marL="4763" marR="4763" marT="4763" marB="0" anchor="ctr"/>
                    </a:tc>
                    <a:tc>
                      <a:txBody>
                        <a:bodyPr/>
                        <a:lstStyle/>
                        <a:p>
                          <a:pPr algn="ctr" fontAlgn="ctr"/>
                          <a:r>
                            <a:rPr lang="en-US" sz="3000" b="0" kern="1200" dirty="0">
                              <a:solidFill>
                                <a:srgbClr val="595959"/>
                              </a:solidFill>
                              <a:latin typeface="微軟正黑體" panose="020B0604030504040204" pitchFamily="34" charset="-120"/>
                              <a:ea typeface="微軟正黑體" panose="020B0604030504040204" pitchFamily="34" charset="-120"/>
                              <a:cs typeface="Arimo Bold"/>
                            </a:rPr>
                            <a:t>3 pixel</a:t>
                          </a:r>
                        </a:p>
                      </a:txBody>
                      <a:tcPr marL="4763" marR="4763" marT="4763" marB="0" anchor="ctr"/>
                    </a:tc>
                    <a:tc>
                      <a:txBody>
                        <a:bodyPr/>
                        <a:lstStyle/>
                        <a:p>
                          <a:pPr algn="ctr" fontAlgn="ctr"/>
                          <a:r>
                            <a:rPr lang="en-US" sz="3000" kern="1200" dirty="0">
                              <a:solidFill>
                                <a:srgbClr val="595959"/>
                              </a:solidFill>
                              <a:latin typeface="微軟正黑體" panose="020B0604030504040204" pitchFamily="34" charset="-120"/>
                              <a:ea typeface="微軟正黑體" panose="020B0604030504040204" pitchFamily="34" charset="-120"/>
                              <a:cs typeface="Arimo Bold"/>
                            </a:rPr>
                            <a:t>1 pixel</a:t>
                          </a:r>
                        </a:p>
                      </a:txBody>
                      <a:tcPr marL="4763" marR="4763" marT="4763" marB="0" anchor="ctr"/>
                    </a:tc>
                    <a:extLst>
                      <a:ext uri="{0D108BD9-81ED-4DB2-BD59-A6C34878D82A}">
                        <a16:rowId xmlns:a16="http://schemas.microsoft.com/office/drawing/2014/main" val="3512178587"/>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最小</a:t>
                          </a:r>
                          <a:r>
                            <a:rPr lang="en-US" sz="3000" kern="1200" dirty="0">
                              <a:solidFill>
                                <a:srgbClr val="595959"/>
                              </a:solidFill>
                              <a:latin typeface="微軟正黑體" panose="020B0604030504040204" pitchFamily="34" charset="-120"/>
                              <a:ea typeface="微軟正黑體" panose="020B0604030504040204" pitchFamily="34" charset="-120"/>
                              <a:cs typeface="Arimo Bold"/>
                            </a:rPr>
                            <a:t>VIL</a:t>
                          </a:r>
                        </a:p>
                      </a:txBody>
                      <a:tcPr marL="4763" marR="4763" marT="4763" marB="0" anchor="ctr"/>
                    </a:tc>
                    <a:tc>
                      <a:txBody>
                        <a:bodyPr/>
                        <a:lstStyle/>
                        <a:p>
                          <a:endParaRPr lang="zh-TW"/>
                        </a:p>
                      </a:txBody>
                      <a:tcPr marL="4763" marR="4763" marT="4763" marB="0" anchor="ctr">
                        <a:blipFill>
                          <a:blip r:embed="rId12"/>
                          <a:stretch>
                            <a:fillRect l="-100000" t="-200909" r="-100168" b="-219091"/>
                          </a:stretch>
                        </a:blipFill>
                      </a:tcPr>
                    </a:tc>
                    <a:tc>
                      <a:txBody>
                        <a:bodyPr/>
                        <a:lstStyle/>
                        <a:p>
                          <a:endParaRPr lang="zh-TW"/>
                        </a:p>
                      </a:txBody>
                      <a:tcPr marL="4763" marR="4763" marT="4763" marB="0" anchor="ctr">
                        <a:blipFill>
                          <a:blip r:embed="rId12"/>
                          <a:stretch>
                            <a:fillRect l="-200337" t="-200909" r="-337" b="-219091"/>
                          </a:stretch>
                        </a:blipFill>
                      </a:tcPr>
                    </a:tc>
                    <a:extLst>
                      <a:ext uri="{0D108BD9-81ED-4DB2-BD59-A6C34878D82A}">
                        <a16:rowId xmlns:a16="http://schemas.microsoft.com/office/drawing/2014/main" val="3217207107"/>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平滑寬度</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1</a:t>
                          </a: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 </a:t>
                          </a: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pixel</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3 pixel</a:t>
                          </a:r>
                        </a:p>
                      </a:txBody>
                      <a:tcPr marL="4763" marR="4763" marT="4763" marB="0" anchor="ctr"/>
                    </a:tc>
                    <a:extLst>
                      <a:ext uri="{0D108BD9-81ED-4DB2-BD59-A6C34878D82A}">
                        <a16:rowId xmlns:a16="http://schemas.microsoft.com/office/drawing/2014/main" val="3992910122"/>
                      </a:ext>
                    </a:extLst>
                  </a:tr>
                  <a:tr h="667130">
                    <a:tc>
                      <a:txBody>
                        <a:bodyPr/>
                        <a:lstStyle/>
                        <a:p>
                          <a:pPr algn="ctr" fontAlgn="ctr"/>
                          <a:r>
                            <a:rPr lang="zh-TW" altLang="en-US" sz="3000" kern="1200" dirty="0">
                              <a:solidFill>
                                <a:srgbClr val="595959"/>
                              </a:solidFill>
                              <a:latin typeface="微軟正黑體" panose="020B0604030504040204" pitchFamily="34" charset="-120"/>
                              <a:ea typeface="微軟正黑體" panose="020B0604030504040204" pitchFamily="34" charset="-120"/>
                              <a:cs typeface="Arimo Bold"/>
                            </a:rPr>
                            <a:t>資料時間</a:t>
                          </a:r>
                        </a:p>
                      </a:txBody>
                      <a:tcPr marL="4763" marR="4763" marT="4763" marB="0" anchor="ctr"/>
                    </a:tc>
                    <a:tc>
                      <a:txBody>
                        <a:bodyPr/>
                        <a:lstStyle/>
                        <a:p>
                          <a:pPr algn="ctr" fontAlgn="ctr"/>
                          <a:r>
                            <a:rPr lang="en-US" sz="3000" kern="1200" dirty="0">
                              <a:solidFill>
                                <a:srgbClr val="595959"/>
                              </a:solidFill>
                              <a:latin typeface="微軟正黑體" panose="020B0604030504040204" pitchFamily="34" charset="-120"/>
                              <a:ea typeface="微軟正黑體" panose="020B0604030504040204" pitchFamily="34" charset="-120"/>
                              <a:cs typeface="Arimo Bold"/>
                            </a:rPr>
                            <a:t>UTC+0</a:t>
                          </a:r>
                        </a:p>
                      </a:txBody>
                      <a:tcPr marL="4763" marR="4763" marT="4763" marB="0" anchor="ctr"/>
                    </a:tc>
                    <a:tc>
                      <a:txBody>
                        <a:bodyPr/>
                        <a:lstStyle/>
                        <a:p>
                          <a:pPr algn="ctr" fontAlgn="ctr"/>
                          <a:r>
                            <a:rPr lang="en-US" altLang="zh-TW" sz="3000" kern="1200" dirty="0">
                              <a:solidFill>
                                <a:srgbClr val="595959"/>
                              </a:solidFill>
                              <a:latin typeface="微軟正黑體" panose="020B0604030504040204" pitchFamily="34" charset="-120"/>
                              <a:ea typeface="微軟正黑體" panose="020B0604030504040204" pitchFamily="34" charset="-120"/>
                              <a:cs typeface="Arimo Bold"/>
                            </a:rPr>
                            <a:t>UTC+8</a:t>
                          </a:r>
                          <a:endParaRPr lang="en-US" sz="3000" kern="1200" dirty="0">
                            <a:solidFill>
                              <a:srgbClr val="595959"/>
                            </a:solidFill>
                            <a:latin typeface="微軟正黑體" panose="020B0604030504040204" pitchFamily="34" charset="-120"/>
                            <a:ea typeface="微軟正黑體" panose="020B0604030504040204" pitchFamily="34" charset="-120"/>
                            <a:cs typeface="Arimo Bold"/>
                          </a:endParaRPr>
                        </a:p>
                      </a:txBody>
                      <a:tcPr marL="4763" marR="4763" marT="4763" marB="0" anchor="ctr"/>
                    </a:tc>
                    <a:extLst>
                      <a:ext uri="{0D108BD9-81ED-4DB2-BD59-A6C34878D82A}">
                        <a16:rowId xmlns:a16="http://schemas.microsoft.com/office/drawing/2014/main" val="1215576988"/>
                      </a:ext>
                    </a:extLst>
                  </a:tr>
                </a:tbl>
              </a:graphicData>
            </a:graphic>
          </p:graphicFrame>
        </mc:Fallback>
      </mc:AlternateContent>
      <p:sp>
        <p:nvSpPr>
          <p:cNvPr id="202" name="Freeform 59">
            <a:extLst>
              <a:ext uri="{FF2B5EF4-FFF2-40B4-BE49-F238E27FC236}">
                <a16:creationId xmlns:a16="http://schemas.microsoft.com/office/drawing/2014/main" id="{839BF3C7-DAF9-7540-495F-BA3DA88EEA22}"/>
              </a:ext>
            </a:extLst>
          </p:cNvPr>
          <p:cNvSpPr/>
          <p:nvPr/>
        </p:nvSpPr>
        <p:spPr>
          <a:xfrm>
            <a:off x="694345" y="28147251"/>
            <a:ext cx="20267122" cy="1913649"/>
          </a:xfrm>
          <a:custGeom>
            <a:avLst/>
            <a:gdLst/>
            <a:ahLst/>
            <a:cxnLst/>
            <a:rect l="l" t="t" r="r" b="b"/>
            <a:pathLst>
              <a:path w="20246713" h="14138979">
                <a:moveTo>
                  <a:pt x="0" y="0"/>
                </a:moveTo>
                <a:lnTo>
                  <a:pt x="20246713" y="0"/>
                </a:lnTo>
                <a:lnTo>
                  <a:pt x="20246713" y="14138979"/>
                </a:lnTo>
                <a:lnTo>
                  <a:pt x="0" y="14138979"/>
                </a:lnTo>
                <a:lnTo>
                  <a:pt x="0" y="0"/>
                </a:lnTo>
                <a:close/>
              </a:path>
            </a:pathLst>
          </a:custGeom>
          <a:blipFill>
            <a:blip r:embed="rId2"/>
            <a:stretch>
              <a:fillRect t="-1849" b="-1849"/>
            </a:stretch>
          </a:blipFill>
        </p:spPr>
        <p:txBody>
          <a:bodyPr/>
          <a:lstStyle/>
          <a:p>
            <a:endParaRPr lang="zh-TW" altLang="en-US" dirty="0"/>
          </a:p>
        </p:txBody>
      </p:sp>
      <p:grpSp>
        <p:nvGrpSpPr>
          <p:cNvPr id="222" name="群組 221">
            <a:extLst>
              <a:ext uri="{FF2B5EF4-FFF2-40B4-BE49-F238E27FC236}">
                <a16:creationId xmlns:a16="http://schemas.microsoft.com/office/drawing/2014/main" id="{07A32902-4367-92A4-8E52-1B542FCB3651}"/>
              </a:ext>
            </a:extLst>
          </p:cNvPr>
          <p:cNvGrpSpPr/>
          <p:nvPr/>
        </p:nvGrpSpPr>
        <p:grpSpPr>
          <a:xfrm>
            <a:off x="904293" y="27617292"/>
            <a:ext cx="5165507" cy="951520"/>
            <a:chOff x="-5010150" y="27486787"/>
            <a:chExt cx="5165507" cy="951520"/>
          </a:xfrm>
        </p:grpSpPr>
        <p:sp>
          <p:nvSpPr>
            <p:cNvPr id="199" name="Freeform 56">
              <a:extLst>
                <a:ext uri="{FF2B5EF4-FFF2-40B4-BE49-F238E27FC236}">
                  <a16:creationId xmlns:a16="http://schemas.microsoft.com/office/drawing/2014/main" id="{4B201ED9-A0F6-0691-04F0-F34573F8CF77}"/>
                </a:ext>
              </a:extLst>
            </p:cNvPr>
            <p:cNvSpPr/>
            <p:nvPr/>
          </p:nvSpPr>
          <p:spPr>
            <a:xfrm>
              <a:off x="-5010150" y="27496967"/>
              <a:ext cx="5165507" cy="931162"/>
            </a:xfrm>
            <a:custGeom>
              <a:avLst/>
              <a:gdLst/>
              <a:ahLst/>
              <a:cxnLst/>
              <a:rect l="l" t="t" r="r" b="b"/>
              <a:pathLst>
                <a:path w="4631690" h="1388474">
                  <a:moveTo>
                    <a:pt x="0" y="0"/>
                  </a:moveTo>
                  <a:lnTo>
                    <a:pt x="4212082" y="0"/>
                  </a:lnTo>
                  <a:lnTo>
                    <a:pt x="4631690" y="557462"/>
                  </a:lnTo>
                  <a:lnTo>
                    <a:pt x="4631690" y="1388475"/>
                  </a:lnTo>
                  <a:lnTo>
                    <a:pt x="419608" y="1388475"/>
                  </a:lnTo>
                  <a:lnTo>
                    <a:pt x="0" y="831014"/>
                  </a:lnTo>
                  <a:lnTo>
                    <a:pt x="0" y="0"/>
                  </a:lnTo>
                  <a:close/>
                </a:path>
              </a:pathLst>
            </a:custGeom>
            <a:solidFill>
              <a:srgbClr val="333F50"/>
            </a:solidFill>
          </p:spPr>
          <p:txBody>
            <a:bodyPr/>
            <a:lstStyle/>
            <a:p>
              <a:endParaRPr lang="zh-TW" altLang="en-US" dirty="0"/>
            </a:p>
          </p:txBody>
        </p:sp>
        <p:sp>
          <p:nvSpPr>
            <p:cNvPr id="201" name="TextBox 58">
              <a:extLst>
                <a:ext uri="{FF2B5EF4-FFF2-40B4-BE49-F238E27FC236}">
                  <a16:creationId xmlns:a16="http://schemas.microsoft.com/office/drawing/2014/main" id="{D4305993-1411-89F2-3022-0A8DDC9D9F5C}"/>
                </a:ext>
              </a:extLst>
            </p:cNvPr>
            <p:cNvSpPr txBox="1"/>
            <p:nvPr/>
          </p:nvSpPr>
          <p:spPr>
            <a:xfrm>
              <a:off x="-4926249" y="27486787"/>
              <a:ext cx="4997704" cy="951520"/>
            </a:xfrm>
            <a:prstGeom prst="rect">
              <a:avLst/>
            </a:prstGeom>
          </p:spPr>
          <p:txBody>
            <a:bodyPr lIns="50800" tIns="50800" rIns="50800" bIns="50800" rtlCol="0" anchor="ctr"/>
            <a:lstStyle/>
            <a:p>
              <a:pPr algn="ctr">
                <a:lnSpc>
                  <a:spcPts val="5759"/>
                </a:lnSpc>
              </a:pPr>
              <a:r>
                <a:rPr lang="zh-TW" altLang="en-US" sz="4800" dirty="0">
                  <a:solidFill>
                    <a:srgbClr val="FFFFFF"/>
                  </a:solidFill>
                  <a:latin typeface="Arimo Bold"/>
                  <a:ea typeface="Arimo Bold"/>
                  <a:cs typeface="Arimo Bold"/>
                  <a:sym typeface="Arimo Bold"/>
                </a:rPr>
                <a:t>結論與未來展望</a:t>
              </a:r>
              <a:endParaRPr lang="en-US" sz="4800" dirty="0">
                <a:solidFill>
                  <a:srgbClr val="FFFFFF"/>
                </a:solidFill>
                <a:latin typeface="Arimo Bold"/>
                <a:ea typeface="Arimo Bold"/>
                <a:cs typeface="Arimo Bold"/>
                <a:sym typeface="Arimo Bold"/>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1907</TotalTime>
  <Words>456</Words>
  <Application>Microsoft Office PowerPoint</Application>
  <PresentationFormat>自訂</PresentationFormat>
  <Paragraphs>64</Paragraphs>
  <Slides>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vt:i4>
      </vt:variant>
    </vt:vector>
  </HeadingPairs>
  <TitlesOfParts>
    <vt:vector size="8" baseType="lpstr">
      <vt:lpstr>微軟正黑體</vt:lpstr>
      <vt:lpstr>Arimo Bold</vt:lpstr>
      <vt:lpstr>Arial</vt:lpstr>
      <vt:lpstr>Calibri</vt:lpstr>
      <vt:lpstr>Arimo</vt:lpstr>
      <vt:lpstr>Cambria Math</vt:lpstr>
      <vt:lpstr>Office Theme</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UBARN poster模板.pptx</dc:title>
  <dc:creator>Woodford</dc:creator>
  <cp:lastModifiedBy>ChuangYufan</cp:lastModifiedBy>
  <cp:revision>5</cp:revision>
  <dcterms:created xsi:type="dcterms:W3CDTF">2006-08-16T00:00:00Z</dcterms:created>
  <dcterms:modified xsi:type="dcterms:W3CDTF">2024-08-15T10:32:37Z</dcterms:modified>
  <dc:identifier>DAGNoIacr3g</dc:identifier>
</cp:coreProperties>
</file>